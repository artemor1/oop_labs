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8"/>
  </p:notesMasterIdLst>
  <p:sldIdLst>
    <p:sldId id="268" r:id="rId2"/>
    <p:sldId id="257" r:id="rId3"/>
    <p:sldId id="269" r:id="rId4"/>
    <p:sldId id="270" r:id="rId5"/>
    <p:sldId id="271" r:id="rId6"/>
    <p:sldId id="272" r:id="rId7"/>
    <p:sldId id="273" r:id="rId8"/>
    <p:sldId id="256" r:id="rId9"/>
    <p:sldId id="258" r:id="rId10"/>
    <p:sldId id="259" r:id="rId11"/>
    <p:sldId id="266" r:id="rId12"/>
    <p:sldId id="260" r:id="rId13"/>
    <p:sldId id="261" r:id="rId14"/>
    <p:sldId id="262" r:id="rId15"/>
    <p:sldId id="263" r:id="rId16"/>
    <p:sldId id="264" r:id="rId17"/>
  </p:sldIdLst>
  <p:sldSz cx="14630400" cy="8229600"/>
  <p:notesSz cx="8229600" cy="14630400"/>
  <p:embeddedFontLst>
    <p:embeddedFont>
      <p:font typeface="Cambria Math" panose="02040503050406030204" pitchFamily="18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2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15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16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1939B-2C69-5CEC-B83E-84C6AA494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DEBB7C-745D-A211-342C-96C755B04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57E876-5FD7-5C68-26C4-7B0BE429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9E9ACD-8612-B374-BDDB-F8D2E06A8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7888C-64A8-B07E-1C4B-90ADC0E8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827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FF755-9F72-65B4-0DCA-2C4A9912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5EB4E-2A8B-4C02-72FB-2E72BEB43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986D9A-6C6C-8CA5-08D7-AC46EAEE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ADCD13-EE6E-AEAD-DB77-345FB380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1FCED7-637B-4596-9BA9-BA45BCD5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9814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71E34-F15A-1331-969D-C0178B4A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4B1C9F-79FC-ED36-C51F-A16BC1B52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22930D-34F1-BF77-E953-A1FF451E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B841B4-9D2E-46F5-0678-FFEDF571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462B44-63BC-8689-BF3E-D65EA44F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134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1CF3A-4404-DDAB-F80E-98E5DB676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0FF0E8-4C24-FD35-78F2-BFF08AB32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49B0A2-6657-27F5-8A1B-4A2D6E34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B9CA84-6C30-E2B3-9F0C-75C5103C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69FC8-5B14-0BED-155E-FCF1C172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E82363-1968-55BF-F9D0-F0DDD909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1314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4E187-E0B7-2018-AA4E-8811F426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DBA724-E795-502F-3276-6BCE97DEF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70BE96-80D9-C5BA-40FB-659F8307B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91C173-988F-1CF9-0ACA-4C6E0035B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3780E3-0EF2-F538-73D7-E2FE942F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530706-959B-758D-5D6E-6546A892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CC0BBA-9924-B1AF-F3A0-B9A10D1A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358F74-A77F-7FBE-4ABC-EE67A1B8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337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B3CB0-440F-7010-4F8E-021288FF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AB2CBDB-43D3-57B7-7163-DD0F5965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027DA1-8119-258F-369D-D29A1BFF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50673F-2909-891E-751A-883FC4AF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8673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321AC6-26C2-9506-4ECE-90BC55F1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58A6B5-7158-8B0C-18A8-D2806AE5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70DABE-7570-BF32-7EBC-9BADEE7F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2615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31E15-CFAA-F88B-4392-70F3979A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CEAD0E-ADC6-E95E-BBFD-792EC4267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7411B1-862E-9ED8-B555-AB021457A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3CBDC-C678-46F7-6646-A8D51074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ECBC78-0EE0-884D-F087-BC865D04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2DBBC4-DC2B-24C9-DA14-77C5DAEB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9408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A97F1-A927-974D-60AA-667BF925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F3C5848-4C6C-A7D8-4A8A-4283846CB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077A66-00F6-0033-C170-9ADD37196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267D07-7DA0-FE5C-A75E-2DB3F294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42BA1C-5A13-10EF-EE26-083654DFE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84434D-9DFF-B79D-696B-6AD81D968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3083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7F5FA-2B18-6522-FB5A-93EB89A7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2B51F6-7EEF-AB43-FCC4-8AF031B48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C364E4-0A9D-1701-9FFE-3B913B2A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B7C95A-22D1-3DA3-0C1A-B6798E77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F7E282-F689-F819-E93D-C6BFAC7F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046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B0E9FBD-105E-2BAE-1B35-F145ED986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2F5B15-D796-F401-F936-34E437584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E3B78-D5F6-C34E-DB9B-F21AF32B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FA9-ADE1-4548-A5C3-336F9F0EAA53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5A5E80-038A-F265-7BBA-B3F39ED25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A8F426-EE9F-5D29-C8DB-BFF6FA14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D4CB-B6F9-4B6C-8E48-17A819193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1673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748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118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290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169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655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892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8378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415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345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67635-D392-7385-6C0A-12E034D7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64DE79-56EE-80B6-4050-9B9AFD805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5C0AB9-528C-5446-F071-49B30A791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51FA9-ADE1-4548-A5C3-336F9F0EAA53}" type="datetimeFigureOut">
              <a:rPr lang="ru-RU" smtClean="0"/>
              <a:pPr/>
              <a:t>07.04.2026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4F5245-DDEF-245B-97D3-73D46B353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F7C035-7F8B-CC7A-7634-5379708AF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8D4CB-B6F9-4B6C-8E48-17A8191933F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96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#fn1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17429"/>
            <a:ext cx="716911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5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Преобразование</a:t>
            </a:r>
            <a:r>
              <a:rPr lang="en-US" sz="485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 Фурье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2064900"/>
            <a:ext cx="129023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dirty="0">
                <a:latin typeface="Times New Roman" panose="02020603050405020304" pitchFamily="18" charset="0"/>
              </a:rPr>
              <a:t>Преобразование Фурье  — операция, сопоставляющая одной функции вещественной переменной другую функцию, описывающую коэффициенты («амплитуды») при разложении исходной функции на гармонические колебания с разными частотами. Простыми словами — это способ разделения сложного сигнала на </a:t>
            </a:r>
            <a:r>
              <a:rPr lang="en-US" sz="2200" dirty="0" err="1">
                <a:latin typeface="Times New Roman" panose="02020603050405020304" pitchFamily="18" charset="0"/>
              </a:rPr>
              <a:t>составляющие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синусоиды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" name="Text 2"/>
          <p:cNvSpPr/>
          <p:nvPr/>
        </p:nvSpPr>
        <p:spPr>
          <a:xfrm>
            <a:off x="864037" y="3789187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Метод открыт французским математиком Жан-Батистом</a:t>
            </a:r>
            <a:r>
              <a:rPr lang="en-US" sz="2200" b="1" dirty="0"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Жозефом Фурье в начале 1800-х годов и является основоположником спектрального анализа — способа обработки сигналов, позволяющего охарактеризовать частотный состав измеряемого сигнала.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54643"/>
            <a:ext cx="886825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5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Виды преобразования Фурье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864037" y="2605683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200" dirty="0">
                <a:latin typeface="Times New Roman" panose="02020603050405020304" pitchFamily="18" charset="0"/>
              </a:rPr>
              <a:t>В </a:t>
            </a:r>
            <a:r>
              <a:rPr lang="en-US" sz="2200" dirty="0" err="1">
                <a:latin typeface="Times New Roman" panose="02020603050405020304" pitchFamily="18" charset="0"/>
              </a:rPr>
              <a:t>зависимости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от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способа</a:t>
            </a:r>
            <a:r>
              <a:rPr lang="en-US" sz="2200" dirty="0">
                <a:latin typeface="Times New Roman" panose="02020603050405020304" pitchFamily="18" charset="0"/>
              </a:rPr>
              <a:t> представления сигнала применяются различные виды преобразования </a:t>
            </a:r>
            <a:r>
              <a:rPr lang="en-US" sz="2200" dirty="0" err="1">
                <a:latin typeface="Times New Roman" panose="02020603050405020304" pitchFamily="18" charset="0"/>
              </a:rPr>
              <a:t>Фурье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" name="Text 2"/>
          <p:cNvSpPr/>
          <p:nvPr/>
        </p:nvSpPr>
        <p:spPr>
          <a:xfrm>
            <a:off x="864037" y="3673435"/>
            <a:ext cx="12902327" cy="2542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  <a:buSzPct val="100000"/>
            </a:pPr>
            <a:r>
              <a:rPr lang="en-US" sz="2200" dirty="0">
                <a:latin typeface="Times New Roman" panose="02020603050405020304" pitchFamily="18" charset="0"/>
              </a:rPr>
              <a:t>НПФ / CTFT — непрерывное преобразование Фурье, используется в теории для сигналов, изменяющихся по заданным </a:t>
            </a:r>
            <a:r>
              <a:rPr lang="en-US" sz="2200" dirty="0" err="1">
                <a:latin typeface="Times New Roman" panose="02020603050405020304" pitchFamily="18" charset="0"/>
              </a:rPr>
              <a:t>функциям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ts val="3100"/>
              </a:lnSpc>
              <a:buSzPct val="100000"/>
            </a:pPr>
            <a:r>
              <a:rPr lang="en-US" sz="2200" dirty="0">
                <a:latin typeface="Times New Roman" panose="02020603050405020304" pitchFamily="18" charset="0"/>
              </a:rPr>
              <a:t>ДПФ / DFT — дискретное преобразование Фурье, применяется на практике для обработки дискретных данных </a:t>
            </a:r>
            <a:r>
              <a:rPr lang="en-US" sz="2200" dirty="0" err="1">
                <a:latin typeface="Times New Roman" panose="02020603050405020304" pitchFamily="18" charset="0"/>
              </a:rPr>
              <a:t>измерений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ts val="3100"/>
              </a:lnSpc>
              <a:buSzPct val="100000"/>
            </a:pPr>
            <a:r>
              <a:rPr lang="en-US" sz="2200" dirty="0">
                <a:latin typeface="Times New Roman" panose="02020603050405020304" pitchFamily="18" charset="0"/>
              </a:rPr>
              <a:t>БПФ / FFT — быстрое преобразование Фурье, эффективный алгоритм вычисления ДПФ, широко используемый в цифровой обработке </a:t>
            </a:r>
            <a:r>
              <a:rPr lang="en-US" sz="2200" dirty="0" err="1">
                <a:latin typeface="Times New Roman" panose="02020603050405020304" pitchFamily="18" charset="0"/>
              </a:rPr>
              <a:t>сигналов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" name="Text 3"/>
          <p:cNvSpPr/>
          <p:nvPr/>
        </p:nvSpPr>
        <p:spPr>
          <a:xfrm>
            <a:off x="864037" y="649402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3100"/>
              </a:lnSpc>
              <a:buSzPct val="100000"/>
              <a:buNone/>
            </a:pPr>
            <a:r>
              <a:rPr lang="en-US" sz="2200" dirty="0">
                <a:latin typeface="Times New Roman" panose="02020603050405020304" pitchFamily="18" charset="0"/>
              </a:rPr>
              <a:t>Нас интересует </a:t>
            </a:r>
            <a:r>
              <a:rPr lang="en-US" sz="2200" dirty="0" err="1">
                <a:latin typeface="Times New Roman" panose="02020603050405020304" pitchFamily="18" charset="0"/>
              </a:rPr>
              <a:t>именно</a:t>
            </a:r>
            <a:r>
              <a:rPr lang="en-US" sz="2200" dirty="0">
                <a:latin typeface="Times New Roman" panose="02020603050405020304" pitchFamily="18" charset="0"/>
              </a:rPr>
              <a:t> дискретное преобразование Фурье (ДПФ).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12904"/>
            <a:ext cx="1080539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5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Дискретное преобразование Фурье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864037" y="2750820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dirty="0">
                <a:latin typeface="Times New Roman" panose="02020603050405020304" pitchFamily="18" charset="0"/>
              </a:rPr>
              <a:t>Непрерывное преобразование Фурье применяется в теории, однако на практике имеют дело с </a:t>
            </a:r>
            <a:r>
              <a:rPr lang="en-US" sz="2200" dirty="0" err="1">
                <a:latin typeface="Times New Roman" panose="02020603050405020304" pitchFamily="18" charset="0"/>
              </a:rPr>
              <a:t>дискретными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данными</a:t>
            </a:r>
            <a:r>
              <a:rPr lang="en-US" sz="2200" dirty="0">
                <a:latin typeface="Times New Roman" panose="02020603050405020304" pitchFamily="18" charset="0"/>
              </a:rPr>
              <a:t> — результатами измерений, фиксируемых через равные промежутки времени с определённой частотой дискретизации (например, 16 000 Гц или 22 000 </a:t>
            </a:r>
            <a:r>
              <a:rPr lang="en-US" sz="2200" dirty="0" err="1">
                <a:latin typeface="Times New Roman" panose="02020603050405020304" pitchFamily="18" charset="0"/>
              </a:rPr>
              <a:t>Гц</a:t>
            </a:r>
            <a:r>
              <a:rPr lang="en-US" sz="2200" dirty="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4" name="Text 2"/>
          <p:cNvSpPr/>
          <p:nvPr/>
        </p:nvSpPr>
        <p:spPr>
          <a:xfrm>
            <a:off x="864037" y="4309888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dirty="0">
                <a:latin typeface="Times New Roman" panose="02020603050405020304" pitchFamily="18" charset="0"/>
              </a:rPr>
              <a:t>ДПФ ставит в соответствие временной </a:t>
            </a:r>
            <a:r>
              <a:rPr lang="en-US" sz="2200" dirty="0" err="1">
                <a:latin typeface="Times New Roman" panose="02020603050405020304" pitchFamily="18" charset="0"/>
              </a:rPr>
              <a:t>функции</a:t>
            </a:r>
            <a:r>
              <a:rPr lang="en-US" sz="2200" dirty="0">
                <a:latin typeface="Times New Roman" panose="02020603050405020304" pitchFamily="18" charset="0"/>
              </a:rPr>
              <a:t> f(n), определённой N-точками измерений на заданном временном интервале, другую </a:t>
            </a:r>
            <a:r>
              <a:rPr lang="en-US" sz="2200" dirty="0" err="1">
                <a:latin typeface="Times New Roman" panose="02020603050405020304" pitchFamily="18" charset="0"/>
              </a:rPr>
              <a:t>функцию</a:t>
            </a:r>
            <a:r>
              <a:rPr lang="en-US" sz="2200" dirty="0">
                <a:latin typeface="Times New Roman" panose="02020603050405020304" pitchFamily="18" charset="0"/>
              </a:rPr>
              <a:t> F(k), определённую на частотном интервале. Функция на временном интервале задаётся N-отсчётами, а на частотном — K-кратным </a:t>
            </a:r>
            <a:r>
              <a:rPr lang="en-US" sz="2200" dirty="0" err="1">
                <a:latin typeface="Times New Roman" panose="02020603050405020304" pitchFamily="18" charset="0"/>
              </a:rPr>
              <a:t>спектром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412" y="928926"/>
            <a:ext cx="6613327" cy="728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Теорема Котельникова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816412" y="2098596"/>
            <a:ext cx="129975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latin typeface="Times New Roman" panose="02020603050405020304" pitchFamily="18" charset="0"/>
              </a:rPr>
              <a:t>Аналоговый периодический сигнал, имеющий конечный спектр (0…fmax), может быть однозначно восстановлен </a:t>
            </a:r>
            <a:r>
              <a:rPr lang="en-US" sz="2200" dirty="0" err="1">
                <a:latin typeface="Times New Roman" panose="02020603050405020304" pitchFamily="18" charset="0"/>
              </a:rPr>
              <a:t>без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искажений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по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своим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дискретным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отсчётам</a:t>
            </a:r>
            <a:r>
              <a:rPr lang="en-US" sz="2200" dirty="0">
                <a:latin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</a:rPr>
              <a:t>взятым</a:t>
            </a:r>
            <a:r>
              <a:rPr lang="en-US" sz="2200" dirty="0">
                <a:latin typeface="Times New Roman" panose="02020603050405020304" pitchFamily="18" charset="0"/>
              </a:rPr>
              <a:t> с </a:t>
            </a:r>
            <a:r>
              <a:rPr lang="en-US" sz="2200" dirty="0" err="1">
                <a:latin typeface="Times New Roman" panose="02020603050405020304" pitchFamily="18" charset="0"/>
              </a:rPr>
              <a:t>частотой</a:t>
            </a:r>
            <a:r>
              <a:rPr lang="en-US" sz="2200" dirty="0">
                <a:latin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</a:rPr>
              <a:t>большей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или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равной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удвоенной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верхней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частоте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спектра</a:t>
            </a:r>
            <a:r>
              <a:rPr lang="en-US" sz="2200" dirty="0">
                <a:latin typeface="Times New Roman" panose="02020603050405020304" pitchFamily="18" charset="0"/>
              </a:rPr>
              <a:t>: </a:t>
            </a:r>
            <a:r>
              <a:rPr lang="en-US" sz="2200" b="1" dirty="0" err="1"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fдискр</a:t>
            </a:r>
            <a:r>
              <a:rPr lang="en-US" sz="2200" b="1" dirty="0"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 ≥ 2 × fmax</a:t>
            </a:r>
            <a:r>
              <a:rPr lang="en-US" sz="2200" dirty="0"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6411" y="3546631"/>
            <a:ext cx="129975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200" dirty="0">
                <a:latin typeface="Times New Roman" panose="02020603050405020304" pitchFamily="18" charset="0"/>
              </a:rPr>
              <a:t>Например п</a:t>
            </a:r>
            <a:r>
              <a:rPr lang="en-US" sz="2200" dirty="0" err="1">
                <a:latin typeface="Times New Roman" panose="02020603050405020304" pitchFamily="18" charset="0"/>
              </a:rPr>
              <a:t>ри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частоте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дискретизации</a:t>
            </a:r>
            <a:r>
              <a:rPr lang="en-US" sz="2200" dirty="0">
                <a:latin typeface="Times New Roman" panose="02020603050405020304" pitchFamily="18" charset="0"/>
              </a:rPr>
              <a:t> 1000 </a:t>
            </a:r>
            <a:r>
              <a:rPr lang="en-US" sz="2200" dirty="0" err="1">
                <a:latin typeface="Times New Roman" panose="02020603050405020304" pitchFamily="18" charset="0"/>
              </a:rPr>
              <a:t>Гц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из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аналогового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сигнала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можно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восстановить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составляющие</a:t>
            </a:r>
            <a:r>
              <a:rPr lang="en-US" sz="2200" dirty="0">
                <a:latin typeface="Times New Roman" panose="02020603050405020304" pitchFamily="18" charset="0"/>
              </a:rPr>
              <a:t> с </a:t>
            </a:r>
            <a:r>
              <a:rPr lang="en-US" sz="2200" dirty="0" err="1">
                <a:latin typeface="Times New Roman" panose="02020603050405020304" pitchFamily="18" charset="0"/>
              </a:rPr>
              <a:t>частотой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до</a:t>
            </a:r>
            <a:r>
              <a:rPr lang="en-US" sz="2200" dirty="0">
                <a:latin typeface="Times New Roman" panose="02020603050405020304" pitchFamily="18" charset="0"/>
              </a:rPr>
              <a:t> 500 </a:t>
            </a:r>
            <a:r>
              <a:rPr lang="en-US" sz="2200" dirty="0" err="1">
                <a:latin typeface="Times New Roman" panose="02020603050405020304" pitchFamily="18" charset="0"/>
              </a:rPr>
              <a:t>Гц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693122" y="5202085"/>
            <a:ext cx="2915960" cy="364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 err="1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Важное</a:t>
            </a:r>
            <a:r>
              <a:rPr lang="en-US" sz="225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2250" dirty="0" err="1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следствие</a:t>
            </a:r>
            <a:r>
              <a:rPr lang="en-US" sz="225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93122" y="5798337"/>
            <a:ext cx="129975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 err="1">
                <a:latin typeface="Times New Roman" panose="02020603050405020304" pitchFamily="18" charset="0"/>
              </a:rPr>
              <a:t>Дискретизация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функции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по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времени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приводит</a:t>
            </a:r>
            <a:r>
              <a:rPr lang="en-US" sz="2200" dirty="0">
                <a:latin typeface="Times New Roman" panose="02020603050405020304" pitchFamily="18" charset="0"/>
              </a:rPr>
              <a:t> к </a:t>
            </a:r>
            <a:r>
              <a:rPr lang="en-US" sz="2200" dirty="0" err="1">
                <a:latin typeface="Times New Roman" panose="02020603050405020304" pitchFamily="18" charset="0"/>
              </a:rPr>
              <a:t>периодизации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её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спектра</a:t>
            </a:r>
            <a:r>
              <a:rPr lang="en-US" sz="2200" dirty="0">
                <a:latin typeface="Times New Roman" panose="02020603050405020304" pitchFamily="18" charset="0"/>
              </a:rPr>
              <a:t>, а </a:t>
            </a:r>
            <a:r>
              <a:rPr lang="en-US" sz="2200" dirty="0" err="1">
                <a:latin typeface="Times New Roman" panose="02020603050405020304" pitchFamily="18" charset="0"/>
              </a:rPr>
              <a:t>дискретизация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спектра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по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частоте</a:t>
            </a:r>
            <a:r>
              <a:rPr lang="en-US" sz="2200" dirty="0">
                <a:latin typeface="Times New Roman" panose="02020603050405020304" pitchFamily="18" charset="0"/>
              </a:rPr>
              <a:t> — к </a:t>
            </a:r>
            <a:r>
              <a:rPr lang="en-US" sz="2200" dirty="0" err="1">
                <a:latin typeface="Times New Roman" panose="02020603050405020304" pitchFamily="18" charset="0"/>
              </a:rPr>
              <a:t>периодизации</a:t>
            </a:r>
            <a:r>
              <a:rPr lang="en-US" sz="2200" dirty="0">
                <a:latin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</a:rPr>
              <a:t>функции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8" name="Text 6"/>
          <p:cNvSpPr/>
          <p:nvPr/>
        </p:nvSpPr>
        <p:spPr>
          <a:xfrm>
            <a:off x="693122" y="6702017"/>
            <a:ext cx="129975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200" dirty="0">
                <a:latin typeface="Times New Roman" panose="02020603050405020304" pitchFamily="18" charset="0"/>
              </a:rPr>
              <a:t>В иностранной литературе теорема известна </a:t>
            </a:r>
            <a:r>
              <a:rPr lang="en-US" sz="2200" dirty="0" err="1">
                <a:latin typeface="Times New Roman" panose="02020603050405020304" pitchFamily="18" charset="0"/>
              </a:rPr>
              <a:t>как</a:t>
            </a:r>
            <a:r>
              <a:rPr lang="en-US" sz="2200" dirty="0">
                <a:latin typeface="Times New Roman" panose="02020603050405020304" pitchFamily="18" charset="0"/>
              </a:rPr>
              <a:t> теорема Найквиста–</a:t>
            </a:r>
            <a:r>
              <a:rPr lang="en-US" sz="2200" dirty="0" err="1">
                <a:latin typeface="Times New Roman" panose="02020603050405020304" pitchFamily="18" charset="0"/>
              </a:rPr>
              <a:t>Шеннона</a:t>
            </a:r>
            <a:r>
              <a:rPr lang="en-US" sz="2200" dirty="0">
                <a:latin typeface="Times New Roman" panose="02020603050405020304" pitchFamily="18" charset="0"/>
              </a:rPr>
              <a:t> или «теорема </a:t>
            </a:r>
            <a:r>
              <a:rPr lang="en-US" sz="2200" dirty="0" err="1">
                <a:latin typeface="Times New Roman" panose="02020603050405020304" pitchFamily="18" charset="0"/>
              </a:rPr>
              <a:t>отсчётов</a:t>
            </a:r>
            <a:r>
              <a:rPr lang="en-US" sz="2200" dirty="0">
                <a:latin typeface="Times New Roman" panose="02020603050405020304" pitchFamily="18" charset="0"/>
              </a:rPr>
              <a:t>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189910"/>
            <a:ext cx="692705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5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Формула прямого ДПФ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864037" y="284095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dirty="0">
                <a:latin typeface="Times New Roman" panose="02020603050405020304" pitchFamily="18" charset="0"/>
              </a:rPr>
              <a:t>Прямое дискретное преобразование Фурье вычисляется по следующей </a:t>
            </a:r>
            <a:r>
              <a:rPr lang="en-US" sz="2200" dirty="0" err="1">
                <a:latin typeface="Times New Roman" panose="02020603050405020304" pitchFamily="18" charset="0"/>
              </a:rPr>
              <a:t>формуле</a:t>
            </a:r>
            <a:r>
              <a:rPr lang="en-US" sz="2200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4" name="Text 2"/>
          <p:cNvSpPr/>
          <p:nvPr/>
        </p:nvSpPr>
        <p:spPr>
          <a:xfrm>
            <a:off x="864037" y="3548420"/>
            <a:ext cx="12902327" cy="1040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64037" y="4901089"/>
            <a:ext cx="12902327" cy="1752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</a:rPr>
              <a:t>N — количество значений сигнала, измеренных за период; кратность частотного </a:t>
            </a:r>
            <a:r>
              <a:rPr lang="en-US" sz="2200" dirty="0" err="1">
                <a:latin typeface="Times New Roman" panose="02020603050405020304" pitchFamily="18" charset="0"/>
              </a:rPr>
              <a:t>спектра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</a:rPr>
              <a:t>k — индекс </a:t>
            </a:r>
            <a:r>
              <a:rPr lang="en-US" sz="2200" dirty="0" err="1">
                <a:latin typeface="Times New Roman" panose="02020603050405020304" pitchFamily="18" charset="0"/>
              </a:rPr>
              <a:t>частоты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</a:rPr>
              <a:t>f(k) = k/T — частота k-го сигнала, </a:t>
            </a:r>
            <a:r>
              <a:rPr lang="en-US" sz="2200" dirty="0" err="1">
                <a:latin typeface="Times New Roman" panose="02020603050405020304" pitchFamily="18" charset="0"/>
              </a:rPr>
              <a:t>где</a:t>
            </a:r>
            <a:r>
              <a:rPr lang="en-US" sz="2200" dirty="0">
                <a:latin typeface="Times New Roman" panose="02020603050405020304" pitchFamily="18" charset="0"/>
              </a:rPr>
              <a:t> T — период времени, в течение которого брались входные </a:t>
            </a:r>
            <a:r>
              <a:rPr lang="en-US" sz="2200" dirty="0" err="1">
                <a:latin typeface="Times New Roman" panose="02020603050405020304" pitchFamily="18" charset="0"/>
              </a:rPr>
              <a:t>данные</a:t>
            </a:r>
            <a:r>
              <a:rPr lang="en-US" sz="2200" dirty="0">
                <a:latin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5D3295-13D9-EC9C-3443-74D988A6F252}"/>
                  </a:ext>
                </a:extLst>
              </p:cNvPr>
              <p:cNvSpPr txBox="1"/>
              <p:nvPr/>
            </p:nvSpPr>
            <p:spPr>
              <a:xfrm>
                <a:off x="3480954" y="3544088"/>
                <a:ext cx="7315200" cy="1044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2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ru-RU" sz="2200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r>
                                <a:rPr lang="ru-RU" sz="2200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200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ru-RU" sz="22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200" i="0">
                          <a:latin typeface="Cambria Math" panose="02040503050406030204" pitchFamily="18" charset="0"/>
                        </a:rPr>
                        <m:t>=0,…,</m:t>
                      </m:r>
                      <m:r>
                        <a:rPr lang="ru-RU" sz="2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u-RU" sz="2200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5D3295-13D9-EC9C-3443-74D988A6F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954" y="3544088"/>
                <a:ext cx="7315200" cy="10445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50896"/>
            <a:ext cx="777656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Пример вычисления ДПФ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2716173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dirty="0">
                <a:latin typeface="Times New Roman" panose="02020603050405020304" pitchFamily="18" charset="0"/>
              </a:rPr>
              <a:t>Пусть задан </a:t>
            </a:r>
            <a:r>
              <a:rPr lang="en-US" sz="2200" dirty="0" err="1">
                <a:latin typeface="Times New Roman" panose="02020603050405020304" pitchFamily="18" charset="0"/>
              </a:rPr>
              <a:t>сигнал</a:t>
            </a:r>
            <a:r>
              <a:rPr lang="en-US" sz="2200" dirty="0">
                <a:latin typeface="Times New Roman" panose="02020603050405020304" pitchFamily="18" charset="0"/>
              </a:rPr>
              <a:t> S(n) = (3, 3, 2, 4, 1), N = 5. </a:t>
            </a:r>
            <a:r>
              <a:rPr lang="ru-RU" sz="2200" dirty="0">
                <a:latin typeface="Times New Roman" panose="02020603050405020304" pitchFamily="18" charset="0"/>
              </a:rPr>
              <a:t>Найдём его ДПФ</a:t>
            </a:r>
            <a:r>
              <a:rPr lang="en-US" sz="2200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4" name="Text 2"/>
          <p:cNvSpPr/>
          <p:nvPr/>
        </p:nvSpPr>
        <p:spPr>
          <a:xfrm>
            <a:off x="864037" y="3818692"/>
            <a:ext cx="12902327" cy="8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64037" y="493764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200" dirty="0">
                <a:latin typeface="Times New Roman" panose="02020603050405020304" pitchFamily="18" charset="0"/>
              </a:rPr>
              <a:t>Вычисляя все компоненты, получаем результат ДПФ для S(n):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F832C2-1031-6A41-CB61-F27904F416A1}"/>
                  </a:ext>
                </a:extLst>
              </p:cNvPr>
              <p:cNvSpPr txBox="1"/>
              <p:nvPr/>
            </p:nvSpPr>
            <p:spPr>
              <a:xfrm>
                <a:off x="1962364" y="3294063"/>
                <a:ext cx="9226193" cy="13708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0.309−0.951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−0.809−0.588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−0.809+0.588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0.309+0.951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−0.809−0.588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0.309+0.951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0.309−0.951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−0.809+0.588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−0.809+0.588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0.309−0.951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0.309+0.951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−0.809−0.588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0.309+0.951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−0.809+0.588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−0.809−0.588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0.309−0.951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F832C2-1031-6A41-CB61-F27904F41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364" y="3294063"/>
                <a:ext cx="9226193" cy="1370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A012574-FBEC-49F5-8BFE-2DAFC9D7C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352" y="5624680"/>
            <a:ext cx="7599934" cy="4134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70070"/>
            <a:ext cx="866953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Пример с матрицей Тёплица</a:t>
            </a:r>
            <a:endParaRPr lang="en-US" sz="4850" dirty="0"/>
          </a:p>
        </p:txBody>
      </p:sp>
      <p:sp>
        <p:nvSpPr>
          <p:cNvPr id="4" name="Text 2"/>
          <p:cNvSpPr/>
          <p:nvPr/>
        </p:nvSpPr>
        <p:spPr>
          <a:xfrm>
            <a:off x="864037" y="4165044"/>
            <a:ext cx="12902327" cy="426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864037" y="6006108"/>
            <a:ext cx="12902327" cy="426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endParaRPr lang="en-US" sz="2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1E028E-6F49-3C0D-2045-F2885BB531B3}"/>
                  </a:ext>
                </a:extLst>
              </p:cNvPr>
              <p:cNvSpPr txBox="1"/>
              <p:nvPr/>
            </p:nvSpPr>
            <p:spPr>
              <a:xfrm>
                <a:off x="1177522" y="2312098"/>
                <a:ext cx="11753555" cy="2657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buNone/>
                </a:pPr>
                <a:r>
                  <a:rPr lang="ru-RU" sz="2800" spc="5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Дана произвольная матрица </a:t>
                </a:r>
                <a:r>
                  <a:rPr lang="ru-RU" sz="2800" spc="5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Тёплица</a:t>
                </a:r>
                <a:r>
                  <a:rPr lang="ru-RU" sz="2800" spc="5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</a:p>
              <a:p>
                <a:pPr indent="450215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pc="5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𝑇</m:t>
                      </m:r>
                      <m:r>
                        <a:rPr lang="en-US" sz="1800" i="1" spc="5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 spc="5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 spc="5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0,5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0,5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ru-RU" sz="1800" i="1" spc="5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800" spc="5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1E028E-6F49-3C0D-2045-F2885BB53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522" y="2312098"/>
                <a:ext cx="11753555" cy="2657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DFF9C5-0EE2-7110-FEE4-887AEB61E592}"/>
                  </a:ext>
                </a:extLst>
              </p:cNvPr>
              <p:cNvSpPr txBox="1"/>
              <p:nvPr/>
            </p:nvSpPr>
            <p:spPr>
              <a:xfrm>
                <a:off x="1177522" y="5387283"/>
                <a:ext cx="1062900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buNone/>
                </a:pPr>
                <a:r>
                  <a:rPr lang="ru-RU" sz="1400" spc="5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ru-RU" spc="5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 помощью её первой строки и формулы ДПФ из предыдущего примера находим ДПФ этой строки:</a:t>
                </a:r>
                <a:endParaRPr lang="ru-RU" spc="5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pc="5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𝑇</m:t>
                      </m:r>
                      <m:d>
                        <m:dPr>
                          <m:ctrlPr>
                            <a:rPr lang="ru-RU" i="1" spc="5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i="1" spc="5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e>
                      </m:d>
                      <m:r>
                        <a:rPr lang="ru-RU" i="1" spc="5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=[3, 1.62, 0.38, 0.38, 1.62]</m:t>
                      </m:r>
                    </m:oMath>
                  </m:oMathPara>
                </a14:m>
                <a:endParaRPr lang="ru-RU" spc="5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DFF9C5-0EE2-7110-FEE4-887AEB61E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522" y="5387283"/>
                <a:ext cx="10629000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36924"/>
            <a:ext cx="119536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Собственные</a:t>
            </a:r>
            <a:r>
              <a:rPr lang="en-US" sz="445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значения и векторы матрицы</a:t>
            </a:r>
            <a:endParaRPr lang="en-US" sz="445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9261" y="237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Определение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9261" y="2951262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Число </a:t>
            </a:r>
            <a:r>
              <a:rPr lang="en-US" sz="19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λ</a:t>
            </a:r>
            <a:r>
              <a:rPr lang="en-US" sz="19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— собственное значение матрицы </a:t>
            </a:r>
            <a:r>
              <a:rPr lang="en-US" sz="19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</a:t>
            </a:r>
            <a:r>
              <a:rPr lang="en-US" sz="19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если существует ненулевой вектор </a:t>
            </a:r>
            <a:r>
              <a:rPr lang="en-US" sz="19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x</a:t>
            </a:r>
            <a:r>
              <a:rPr lang="en-US" sz="19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такой, что: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7250" y="4544378"/>
            <a:ext cx="6117788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9261" y="4644450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Вектор </a:t>
            </a:r>
            <a:r>
              <a:rPr lang="en-US" sz="22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называется собственным вектором, соответствующим λ.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93551" y="2534678"/>
            <a:ext cx="49781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собственных значений</a:t>
            </a:r>
          </a:p>
        </p:txBody>
      </p:sp>
      <p:sp>
        <p:nvSpPr>
          <p:cNvPr id="10" name="Text 7"/>
          <p:cNvSpPr/>
          <p:nvPr/>
        </p:nvSpPr>
        <p:spPr>
          <a:xfrm>
            <a:off x="7793551" y="31158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Составляется уравнение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99521" y="4181475"/>
            <a:ext cx="6244709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793551" y="444610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После нахождения λ собственные векторы определяются из системы: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99521" y="5874663"/>
            <a:ext cx="6244709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C2A393-F61B-B74B-97F3-A563DDD261F7}"/>
                  </a:ext>
                </a:extLst>
              </p:cNvPr>
              <p:cNvSpPr txBox="1"/>
              <p:nvPr/>
            </p:nvSpPr>
            <p:spPr>
              <a:xfrm>
                <a:off x="9784915" y="3667022"/>
                <a:ext cx="2261980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b="0" i="1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0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m:rPr>
                          <m:sty m:val="p"/>
                        </m:rP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ru-RU" sz="3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C2A393-F61B-B74B-97F3-A563DDD26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915" y="3667022"/>
                <a:ext cx="226198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FE8700-A7C8-AFD2-AE4E-AD6203C1F006}"/>
                  </a:ext>
                </a:extLst>
              </p:cNvPr>
              <p:cNvSpPr txBox="1"/>
              <p:nvPr/>
            </p:nvSpPr>
            <p:spPr>
              <a:xfrm>
                <a:off x="7169068" y="5329908"/>
                <a:ext cx="73152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</m:t>
                      </m:r>
                      <m: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𝜆</m:t>
                      </m:r>
                      <m:r>
                        <m:rPr>
                          <m:sty m:val="p"/>
                        </m:rP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I</m:t>
                      </m:r>
                      <m: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x</m:t>
                      </m:r>
                      <m: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ru-RU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FE8700-A7C8-AFD2-AE4E-AD6203C1F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068" y="5329908"/>
                <a:ext cx="73152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C695A97-F70A-7FFC-54D1-017BC110B41F}"/>
                  </a:ext>
                </a:extLst>
              </p:cNvPr>
              <p:cNvSpPr txBox="1"/>
              <p:nvPr/>
            </p:nvSpPr>
            <p:spPr>
              <a:xfrm>
                <a:off x="-284320" y="3837801"/>
                <a:ext cx="73152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m:rPr>
                          <m:sty m:val="p"/>
                        </m:rPr>
                        <a:rPr kumimoji="0" lang="en-US" sz="3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ru-RU" sz="3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C695A97-F70A-7FFC-54D1-017BC110B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4320" y="3837801"/>
                <a:ext cx="7315200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1407"/>
            <a:ext cx="8887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Сингулярное</a:t>
            </a:r>
            <a:r>
              <a:rPr lang="en-US" sz="445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разложение (SVD)</a:t>
            </a:r>
            <a:endParaRPr lang="en-US" sz="445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034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Любая</a:t>
            </a:r>
            <a:r>
              <a:rPr lang="en-US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прямоугольная матрица </a:t>
            </a:r>
            <a:r>
              <a:rPr lang="en-US" sz="175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</a:t>
            </a:r>
            <a:r>
              <a:rPr lang="en-US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размера m×n представляется в виде: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3833693"/>
            <a:ext cx="13042821" cy="3054906"/>
          </a:xfrm>
          <a:prstGeom prst="roundRect">
            <a:avLst>
              <a:gd name="adj" fmla="val 668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8343" y="3985022"/>
            <a:ext cx="1887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 (m×m)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77089" y="3985022"/>
            <a:ext cx="4880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Ортогональная матрица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718352" y="3985022"/>
            <a:ext cx="48838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</a:t>
            </a:r>
            <a:r>
              <a:rPr lang="en-US" sz="175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евые</a:t>
            </a:r>
            <a:r>
              <a:rPr lang="en-US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сингулярные векторы (собственные векторы MMᵀ).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1410" y="4854535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8343" y="4998244"/>
            <a:ext cx="1887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Σ (m×n)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377089" y="4998244"/>
            <a:ext cx="4880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Диагональная матрица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718352" y="4998244"/>
            <a:ext cx="48838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</a:t>
            </a:r>
            <a:r>
              <a:rPr lang="en-US" sz="175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ингулярные</a:t>
            </a:r>
            <a:r>
              <a:rPr lang="en-US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числа σ₁ ≥ σ₂ ≥ … ≥ 0.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1410" y="5867757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28343" y="6011466"/>
            <a:ext cx="1887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 (n×n)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77089" y="6011466"/>
            <a:ext cx="4880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Ортогональная матрица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718352" y="6011466"/>
            <a:ext cx="48838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</a:t>
            </a:r>
            <a:r>
              <a:rPr lang="en-US" sz="175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равые</a:t>
            </a:r>
            <a:r>
              <a:rPr lang="en-US" sz="175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сингулярные векторы (собственные векторы MᵀM).</a:t>
            </a:r>
            <a:endParaRPr lang="en-US" sz="175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4652BF-816C-2F78-243D-B737EBC9A123}"/>
                  </a:ext>
                </a:extLst>
              </p:cNvPr>
              <p:cNvSpPr txBox="1"/>
              <p:nvPr/>
            </p:nvSpPr>
            <p:spPr>
              <a:xfrm>
                <a:off x="3657600" y="3169561"/>
                <a:ext cx="73152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0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3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0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ru-RU" sz="3000" i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3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3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4652BF-816C-2F78-243D-B737EBC9A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169561"/>
                <a:ext cx="731520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6587" y="930003"/>
            <a:ext cx="4769048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Пример разложения матрицы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21080" y="1690788"/>
            <a:ext cx="9010174" cy="164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Рассмотрим матрицу </a:t>
            </a:r>
            <a:r>
              <a:rPr lang="en-US" sz="22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</a:t>
            </a: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размера 4×5.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40963" y="1705468"/>
            <a:ext cx="9010174" cy="85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50" dirty="0">
              <a:latin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810113" y="4330660"/>
            <a:ext cx="9010174" cy="85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50" dirty="0">
              <a:latin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2796672" y="6253737"/>
            <a:ext cx="90101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5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642E7F3-0D9E-1E5E-B1D4-F8F75969C0DB}"/>
                  </a:ext>
                </a:extLst>
              </p:cNvPr>
              <p:cNvSpPr txBox="1"/>
              <p:nvPr/>
            </p:nvSpPr>
            <p:spPr>
              <a:xfrm>
                <a:off x="3301111" y="1951034"/>
                <a:ext cx="7315200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642E7F3-0D9E-1E5E-B1D4-F8F75969C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111" y="1951034"/>
                <a:ext cx="7315200" cy="11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958B244C-ADE7-B834-FA5C-6CD4FD933C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2120611"/>
                  </p:ext>
                </p:extLst>
              </p:nvPr>
            </p:nvGraphicFramePr>
            <p:xfrm>
              <a:off x="916587" y="3139663"/>
              <a:ext cx="6221767" cy="4231138"/>
            </p:xfrm>
            <a:graphic>
              <a:graphicData uri="http://schemas.openxmlformats.org/drawingml/2006/table">
                <a:tbl>
                  <a:tblPr firstRow="1" firstCol="1" bandRow="1">
                    <a:tableStyleId>{BDBED569-4797-4DF1-A0F4-6AAB3CD982D8}</a:tableStyleId>
                  </a:tblPr>
                  <a:tblGrid>
                    <a:gridCol w="2035792">
                      <a:extLst>
                        <a:ext uri="{9D8B030D-6E8A-4147-A177-3AD203B41FA5}">
                          <a16:colId xmlns:a16="http://schemas.microsoft.com/office/drawing/2014/main" val="232740694"/>
                        </a:ext>
                      </a:extLst>
                    </a:gridCol>
                    <a:gridCol w="2422199">
                      <a:extLst>
                        <a:ext uri="{9D8B030D-6E8A-4147-A177-3AD203B41FA5}">
                          <a16:colId xmlns:a16="http://schemas.microsoft.com/office/drawing/2014/main" val="1226878063"/>
                        </a:ext>
                      </a:extLst>
                    </a:gridCol>
                    <a:gridCol w="1763776">
                      <a:extLst>
                        <a:ext uri="{9D8B030D-6E8A-4147-A177-3AD203B41FA5}">
                          <a16:colId xmlns:a16="http://schemas.microsoft.com/office/drawing/2014/main" val="3483412069"/>
                        </a:ext>
                      </a:extLst>
                    </a:gridCol>
                  </a:tblGrid>
                  <a:tr h="16822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500" dirty="0">
                              <a:effectLst/>
                              <a:latin typeface="Times New Roman" panose="02020603050405020304" pitchFamily="18" charset="0"/>
                            </a:rPr>
                            <a:t>Собственные значения </a:t>
                          </a:r>
                          <a:br>
                            <a:rPr lang="ru-RU" sz="1500" dirty="0">
                              <a:effectLst/>
                              <a:latin typeface="Times New Roman" panose="02020603050405020304" pitchFamily="18" charset="0"/>
                            </a:rPr>
                          </a:br>
                          <a:r>
                            <a:rPr lang="ru-RU" sz="1500" dirty="0">
                              <a:effectLst/>
                              <a:latin typeface="Times New Roman" panose="02020603050405020304" pitchFamily="18" charset="0"/>
                            </a:rPr>
                            <a:t>матрицы </a:t>
                          </a:r>
                          <a14:m>
                            <m:oMath xmlns:m="http://schemas.openxmlformats.org/officeDocument/2006/math">
                              <m:r>
                                <a:rPr lang="ru-RU" sz="1500">
                                  <a:effectLst/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sSup>
                                <m:sSupPr>
                                  <m:ctrlPr>
                                    <a:rPr lang="ru-RU" sz="15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oMath>
                          </a14:m>
                          <a:endParaRPr lang="ru-RU" sz="13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500" dirty="0">
                              <a:effectLst/>
                            </a:rPr>
                            <a:t> </a:t>
                          </a:r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500" dirty="0">
                              <a:effectLst/>
                              <a:latin typeface="Times New Roman" panose="02020603050405020304" pitchFamily="18" charset="0"/>
                            </a:rPr>
                            <a:t>Соответствующие нормированные собственные векторы (левые сингулярные векторы)</a:t>
                          </a:r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500" dirty="0">
                              <a:effectLst/>
                              <a:latin typeface="Times New Roman" panose="02020603050405020304" pitchFamily="18" charset="0"/>
                            </a:rPr>
                            <a:t>Сингулярные числа</a:t>
                          </a:r>
                          <a:endParaRPr lang="ru-RU" sz="13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500" dirty="0">
                              <a:effectLst/>
                            </a:rPr>
                            <a:t> </a:t>
                          </a:r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extLst>
                      <a:ext uri="{0D108BD9-81ED-4DB2-BD59-A6C34878D82A}">
                        <a16:rowId xmlns:a16="http://schemas.microsoft.com/office/drawing/2014/main" val="73245237"/>
                      </a:ext>
                    </a:extLst>
                  </a:tr>
                  <a:tr h="62741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=16</m:t>
                                </m:r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=(0,0,0,1</m:t>
                                </m:r>
                                <m:sSup>
                                  <m:sSup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rad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396485"/>
                      </a:ext>
                    </a:extLst>
                  </a:tr>
                  <a:tr h="62741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=(0,1,0,0</m:t>
                                </m:r>
                                <m:sSup>
                                  <m:sSup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extLst>
                      <a:ext uri="{0D108BD9-81ED-4DB2-BD59-A6C34878D82A}">
                        <a16:rowId xmlns:a16="http://schemas.microsoft.com/office/drawing/2014/main" val="233200229"/>
                      </a:ext>
                    </a:extLst>
                  </a:tr>
                  <a:tr h="62741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=(1,0,0,0</m:t>
                                </m:r>
                                <m:sSup>
                                  <m:sSup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ru-RU" sz="15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sz="15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15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37955"/>
                      </a:ext>
                    </a:extLst>
                  </a:tr>
                  <a:tr h="6666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5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150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ru-RU" sz="1500" dirty="0">
                              <a:effectLst/>
                            </a:rPr>
                            <a:t> </a:t>
                          </a:r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5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1500">
                                  <a:effectLst/>
                                  <a:latin typeface="Cambria Math" panose="02040503050406030204" pitchFamily="18" charset="0"/>
                                </a:rPr>
                                <m:t>=(0,0,1,0</m:t>
                              </m:r>
                              <m:sSup>
                                <m:sSupPr>
                                  <m:ctrlPr>
                                    <a:rPr lang="ru-RU" sz="15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sz="1500" dirty="0">
                              <a:effectLst/>
                            </a:rPr>
                            <a:t> </a:t>
                          </a:r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5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ru-RU" sz="15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150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ru-RU" sz="1500" dirty="0">
                              <a:effectLst/>
                            </a:rPr>
                            <a:t> </a:t>
                          </a:r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extLst>
                      <a:ext uri="{0D108BD9-81ED-4DB2-BD59-A6C34878D82A}">
                        <a16:rowId xmlns:a16="http://schemas.microsoft.com/office/drawing/2014/main" val="1671710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958B244C-ADE7-B834-FA5C-6CD4FD933C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2120611"/>
                  </p:ext>
                </p:extLst>
              </p:nvPr>
            </p:nvGraphicFramePr>
            <p:xfrm>
              <a:off x="916587" y="3139663"/>
              <a:ext cx="6221767" cy="4231138"/>
            </p:xfrm>
            <a:graphic>
              <a:graphicData uri="http://schemas.openxmlformats.org/drawingml/2006/table">
                <a:tbl>
                  <a:tblPr firstRow="1" firstCol="1" bandRow="1">
                    <a:tableStyleId>{BDBED569-4797-4DF1-A0F4-6AAB3CD982D8}</a:tableStyleId>
                  </a:tblPr>
                  <a:tblGrid>
                    <a:gridCol w="2035792">
                      <a:extLst>
                        <a:ext uri="{9D8B030D-6E8A-4147-A177-3AD203B41FA5}">
                          <a16:colId xmlns:a16="http://schemas.microsoft.com/office/drawing/2014/main" val="232740694"/>
                        </a:ext>
                      </a:extLst>
                    </a:gridCol>
                    <a:gridCol w="2422199">
                      <a:extLst>
                        <a:ext uri="{9D8B030D-6E8A-4147-A177-3AD203B41FA5}">
                          <a16:colId xmlns:a16="http://schemas.microsoft.com/office/drawing/2014/main" val="1226878063"/>
                        </a:ext>
                      </a:extLst>
                    </a:gridCol>
                    <a:gridCol w="1763776">
                      <a:extLst>
                        <a:ext uri="{9D8B030D-6E8A-4147-A177-3AD203B41FA5}">
                          <a16:colId xmlns:a16="http://schemas.microsoft.com/office/drawing/2014/main" val="3483412069"/>
                        </a:ext>
                      </a:extLst>
                    </a:gridCol>
                  </a:tblGrid>
                  <a:tr h="16822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99" t="-725" r="-206886" b="-1525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500" dirty="0">
                              <a:effectLst/>
                              <a:latin typeface="Times New Roman" panose="02020603050405020304" pitchFamily="18" charset="0"/>
                            </a:rPr>
                            <a:t>Соответствующие нормированные собственные векторы (левые сингулярные векторы)</a:t>
                          </a:r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500" dirty="0">
                              <a:effectLst/>
                              <a:latin typeface="Times New Roman" panose="02020603050405020304" pitchFamily="18" charset="0"/>
                            </a:rPr>
                            <a:t>Сингулярные числа</a:t>
                          </a:r>
                          <a:endParaRPr lang="ru-RU" sz="13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500" dirty="0">
                              <a:effectLst/>
                            </a:rPr>
                            <a:t> </a:t>
                          </a:r>
                          <a:endParaRPr lang="ru-RU" sz="13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925" marR="73925" marT="0" marB="0" anchor="ctr"/>
                    </a:tc>
                    <a:extLst>
                      <a:ext uri="{0D108BD9-81ED-4DB2-BD59-A6C34878D82A}">
                        <a16:rowId xmlns:a16="http://schemas.microsoft.com/office/drawing/2014/main" val="73245237"/>
                      </a:ext>
                    </a:extLst>
                  </a:tr>
                  <a:tr h="62741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99" t="-269903" r="-206886" b="-30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84171" t="-269903" r="-73618" b="-30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53633" t="-269903" r="-1384" b="-308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396485"/>
                      </a:ext>
                    </a:extLst>
                  </a:tr>
                  <a:tr h="62741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99" t="-369903" r="-206886" b="-20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84171" t="-369903" r="-73618" b="-20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53633" t="-369903" r="-1384" b="-208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200229"/>
                      </a:ext>
                    </a:extLst>
                  </a:tr>
                  <a:tr h="62741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99" t="-465385" r="-206886" b="-10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84171" t="-465385" r="-73618" b="-10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53633" t="-465385" r="-1384" b="-1067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37955"/>
                      </a:ext>
                    </a:extLst>
                  </a:tr>
                  <a:tr h="66663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99" t="-539450" r="-206886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84171" t="-539450" r="-73618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3925" marR="73925" marT="0" marB="0" anchor="ctr">
                        <a:blipFill>
                          <a:blip r:embed="rId4"/>
                          <a:stretch>
                            <a:fillRect l="-253633" t="-539450" r="-1384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1710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Таблица 31">
                <a:extLst>
                  <a:ext uri="{FF2B5EF4-FFF2-40B4-BE49-F238E27FC236}">
                    <a16:creationId xmlns:a16="http://schemas.microsoft.com/office/drawing/2014/main" id="{DFF35996-60E8-2117-196F-8474C56EC1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4958069"/>
                  </p:ext>
                </p:extLst>
              </p:nvPr>
            </p:nvGraphicFramePr>
            <p:xfrm>
              <a:off x="7726167" y="3154168"/>
              <a:ext cx="6339153" cy="4231139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{22838BEF-8BB2-4498-84A7-C5851F593DF1}</a:tableStyleId>
                  </a:tblPr>
                  <a:tblGrid>
                    <a:gridCol w="2074201">
                      <a:extLst>
                        <a:ext uri="{9D8B030D-6E8A-4147-A177-3AD203B41FA5}">
                          <a16:colId xmlns:a16="http://schemas.microsoft.com/office/drawing/2014/main" val="2154843865"/>
                        </a:ext>
                      </a:extLst>
                    </a:gridCol>
                    <a:gridCol w="2467899">
                      <a:extLst>
                        <a:ext uri="{9D8B030D-6E8A-4147-A177-3AD203B41FA5}">
                          <a16:colId xmlns:a16="http://schemas.microsoft.com/office/drawing/2014/main" val="3932181000"/>
                        </a:ext>
                      </a:extLst>
                    </a:gridCol>
                    <a:gridCol w="1797053">
                      <a:extLst>
                        <a:ext uri="{9D8B030D-6E8A-4147-A177-3AD203B41FA5}">
                          <a16:colId xmlns:a16="http://schemas.microsoft.com/office/drawing/2014/main" val="689660649"/>
                        </a:ext>
                      </a:extLst>
                    </a:gridCol>
                  </a:tblGrid>
                  <a:tr h="149519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</a:rPr>
                            <a:t>Собственные значения </a:t>
                          </a:r>
                          <a:br>
                            <a:rPr lang="ru-RU" sz="1400" dirty="0">
                              <a:effectLst/>
                              <a:latin typeface="Times New Roman" panose="02020603050405020304" pitchFamily="18" charset="0"/>
                            </a:rPr>
                          </a:b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</a:rPr>
                            <a:t>матрицы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</a:rPr>
                            <a:t>Соответствующие нормированные собственные векторы (правые сингулярные векторы)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</a:rPr>
                            <a:t>Сингулярные числа</a:t>
                          </a:r>
                          <a:endParaRPr lang="ru-RU" sz="12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400" dirty="0">
                              <a:effectLst/>
                            </a:rPr>
                            <a:t> 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21544"/>
                      </a:ext>
                    </a:extLst>
                  </a:tr>
                  <a:tr h="55765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=16</m:t>
                                </m:r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=(0,1,0,0,0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rad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338207"/>
                      </a:ext>
                    </a:extLst>
                  </a:tr>
                  <a:tr h="4356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=(0,0,1,0,0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605105"/>
                      </a:ext>
                    </a:extLst>
                  </a:tr>
                  <a:tr h="55765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ru-RU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ru-RU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,0,0,0,</m:t>
                                        </m:r>
                                        <m:r>
                                          <a:rPr lang="en-US" sz="14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ru-RU" sz="140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sz="14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sz="12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668745"/>
                      </a:ext>
                    </a:extLst>
                  </a:tr>
                  <a:tr h="5925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ru-RU" sz="1400" dirty="0">
                              <a:effectLst/>
                            </a:rPr>
                            <a:t> 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ru-RU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ru-RU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400" b="0" i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ru-RU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,0,0,0,</m:t>
                                        </m:r>
                                        <m:r>
                                          <a:rPr lang="en-US" sz="14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ru-RU" sz="140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sz="14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sz="12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ru-RU" sz="1400" dirty="0">
                              <a:effectLst/>
                            </a:rPr>
                            <a:t> 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594703"/>
                      </a:ext>
                    </a:extLst>
                  </a:tr>
                  <a:tr h="5925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=(0,0,0,1,0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33723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Таблица 31">
                <a:extLst>
                  <a:ext uri="{FF2B5EF4-FFF2-40B4-BE49-F238E27FC236}">
                    <a16:creationId xmlns:a16="http://schemas.microsoft.com/office/drawing/2014/main" id="{DFF35996-60E8-2117-196F-8474C56EC1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4958069"/>
                  </p:ext>
                </p:extLst>
              </p:nvPr>
            </p:nvGraphicFramePr>
            <p:xfrm>
              <a:off x="7726167" y="3154168"/>
              <a:ext cx="6339153" cy="4231139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{22838BEF-8BB2-4498-84A7-C5851F593DF1}</a:tableStyleId>
                  </a:tblPr>
                  <a:tblGrid>
                    <a:gridCol w="2074201">
                      <a:extLst>
                        <a:ext uri="{9D8B030D-6E8A-4147-A177-3AD203B41FA5}">
                          <a16:colId xmlns:a16="http://schemas.microsoft.com/office/drawing/2014/main" val="2154843865"/>
                        </a:ext>
                      </a:extLst>
                    </a:gridCol>
                    <a:gridCol w="2467899">
                      <a:extLst>
                        <a:ext uri="{9D8B030D-6E8A-4147-A177-3AD203B41FA5}">
                          <a16:colId xmlns:a16="http://schemas.microsoft.com/office/drawing/2014/main" val="3932181000"/>
                        </a:ext>
                      </a:extLst>
                    </a:gridCol>
                    <a:gridCol w="1797053">
                      <a:extLst>
                        <a:ext uri="{9D8B030D-6E8A-4147-A177-3AD203B41FA5}">
                          <a16:colId xmlns:a16="http://schemas.microsoft.com/office/drawing/2014/main" val="689660649"/>
                        </a:ext>
                      </a:extLst>
                    </a:gridCol>
                  </a:tblGrid>
                  <a:tr h="149519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3" t="-407" r="-206158" b="-1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</a:rPr>
                            <a:t>Соответствующие нормированные собственные векторы (правые сингулярные векторы)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</a:rPr>
                            <a:t>Сингулярные числа</a:t>
                          </a:r>
                          <a:endParaRPr lang="ru-RU" sz="1200" dirty="0">
                            <a:effectLst/>
                          </a:endParaRPr>
                        </a:p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u-RU" sz="1400" dirty="0">
                              <a:effectLst/>
                            </a:rPr>
                            <a:t> 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21544"/>
                      </a:ext>
                    </a:extLst>
                  </a:tr>
                  <a:tr h="55765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3" t="-271429" r="-206158" b="-395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84444" t="-271429" r="-73580" b="-395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53220" t="-271429" r="-1017" b="-3956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338207"/>
                      </a:ext>
                    </a:extLst>
                  </a:tr>
                  <a:tr h="43563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3" t="-469444" r="-20615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84444" t="-469444" r="-7358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53220" t="-469444" r="-101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605105"/>
                      </a:ext>
                    </a:extLst>
                  </a:tr>
                  <a:tr h="55765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3" t="-450549" r="-206158" b="-216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84444" t="-450549" r="-73580" b="-216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53220" t="-450549" r="-1017" b="-216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668745"/>
                      </a:ext>
                    </a:extLst>
                  </a:tr>
                  <a:tr h="59250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3" t="-511224" r="-206158" b="-10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84444" t="-511224" r="-73580" b="-10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53220" t="-511224" r="-1017" b="-101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594703"/>
                      </a:ext>
                    </a:extLst>
                  </a:tr>
                  <a:tr h="59250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3" t="-617526" r="-206158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84444" t="-617526" r="-73580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53220" t="-617526" r="-1017" b="-20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337239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1C7F0D-AAB6-3606-34F2-FF2D6DB79E90}"/>
                  </a:ext>
                </a:extLst>
              </p:cNvPr>
              <p:cNvSpPr txBox="1"/>
              <p:nvPr/>
            </p:nvSpPr>
            <p:spPr>
              <a:xfrm>
                <a:off x="698644" y="4606185"/>
                <a:ext cx="3554857" cy="638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ru-RU" sz="30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ru-RU" sz="3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3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ru-RU" sz="3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sz="30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30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3000" baseline="30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helvetica neue"/>
                    <a:cs typeface="Times New Roman" panose="02020603050405020304" pitchFamily="18" charset="0"/>
                    <a:hlinkClick r:id="rId2" action="ppaction://hlinkfile"/>
                  </a:rPr>
                  <a:t> </a:t>
                </a:r>
                <a:endParaRPr lang="ru-RU" sz="30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1C7F0D-AAB6-3606-34F2-FF2D6DB7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4" y="4606185"/>
                <a:ext cx="3554857" cy="638829"/>
              </a:xfrm>
              <a:prstGeom prst="rect">
                <a:avLst/>
              </a:prstGeom>
              <a:blipFill>
                <a:blip r:embed="rId3"/>
                <a:stretch>
                  <a:fillRect t="-1711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6FBB62-0A82-FA25-98FF-451FD47B5848}"/>
                  </a:ext>
                </a:extLst>
              </p:cNvPr>
              <p:cNvSpPr txBox="1"/>
              <p:nvPr/>
            </p:nvSpPr>
            <p:spPr>
              <a:xfrm>
                <a:off x="2835668" y="3340333"/>
                <a:ext cx="7315200" cy="1822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300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ru-RU" sz="3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ru-RU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sz="3000" i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6FBB62-0A82-FA25-98FF-451FD47B5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668" y="3340333"/>
                <a:ext cx="7315200" cy="18224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B69B69-BF98-16A0-CB67-1A13FC02682D}"/>
                  </a:ext>
                </a:extLst>
              </p:cNvPr>
              <p:cNvSpPr txBox="1"/>
              <p:nvPr/>
            </p:nvSpPr>
            <p:spPr>
              <a:xfrm>
                <a:off x="7623425" y="2735485"/>
                <a:ext cx="7315200" cy="3287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3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ru-RU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3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ru-RU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ru-RU" sz="3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ru-RU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3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ru-RU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ru-RU" sz="3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3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ru-RU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ru-RU" sz="3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ru-RU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3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ru-RU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ru-RU" sz="3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3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000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B69B69-BF98-16A0-CB67-1A13FC026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425" y="2735485"/>
                <a:ext cx="7315200" cy="3287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2DDA79E-7061-5C9A-1576-39A71A535FB9}"/>
              </a:ext>
            </a:extLst>
          </p:cNvPr>
          <p:cNvSpPr txBox="1"/>
          <p:nvPr/>
        </p:nvSpPr>
        <p:spPr>
          <a:xfrm>
            <a:off x="821933" y="894092"/>
            <a:ext cx="10849510" cy="554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ru-RU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Получившиеся матрицы разложения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72B3A5-19CC-1EC7-6CD8-91EAB1455469}"/>
                  </a:ext>
                </a:extLst>
              </p:cNvPr>
              <p:cNvSpPr txBox="1"/>
              <p:nvPr/>
            </p:nvSpPr>
            <p:spPr>
              <a:xfrm>
                <a:off x="441790" y="1875983"/>
                <a:ext cx="115892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200" dirty="0">
                    <a:latin typeface="Times New Roman" panose="02020603050405020304" pitchFamily="18" charset="0"/>
                  </a:rPr>
                  <a:t>Собираем 3 матрицы разложения — </a:t>
                </a:r>
                <a:r>
                  <a:rPr lang="en-US" sz="2200" dirty="0">
                    <a:latin typeface="Times New Roman" panose="02020603050405020304" pitchFamily="18" charset="0"/>
                  </a:rPr>
                  <a:t>U,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и</m:t>
                    </m:r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ru-RU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72B3A5-19CC-1EC7-6CD8-91EAB1455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90" y="1875983"/>
                <a:ext cx="11589248" cy="461665"/>
              </a:xfrm>
              <a:prstGeom prst="rect">
                <a:avLst/>
              </a:prstGeom>
              <a:blipFill>
                <a:blip r:embed="rId6"/>
                <a:stretch>
                  <a:fillRect l="-683" t="-4000" b="-25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4828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909" y="634246"/>
            <a:ext cx="8136493" cy="59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Разложение</a:t>
            </a:r>
            <a:r>
              <a:rPr lang="en-US" sz="37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в сумму матриц ранга 1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8909" y="1538883"/>
            <a:ext cx="13032462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650" dirty="0">
              <a:latin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8909" y="2062043"/>
            <a:ext cx="13032462" cy="123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650" dirty="0">
              <a:latin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98909" y="6361152"/>
            <a:ext cx="13032462" cy="123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65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1B279-58C0-2072-12D3-C2B54E8CB4D4}"/>
                  </a:ext>
                </a:extLst>
              </p:cNvPr>
              <p:cNvSpPr txBox="1"/>
              <p:nvPr/>
            </p:nvSpPr>
            <p:spPr>
              <a:xfrm>
                <a:off x="3513700" y="1381725"/>
                <a:ext cx="7315200" cy="1016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2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ru-RU" sz="22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1B279-58C0-2072-12D3-C2B54E8CB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700" y="1381725"/>
                <a:ext cx="7315200" cy="10164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055AB6-9DE0-C7A3-6380-5B255DBF37D3}"/>
                  </a:ext>
                </a:extLst>
              </p:cNvPr>
              <p:cNvSpPr txBox="1"/>
              <p:nvPr/>
            </p:nvSpPr>
            <p:spPr>
              <a:xfrm>
                <a:off x="827009" y="2384666"/>
                <a:ext cx="5661061" cy="1766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2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ru-RU" sz="2200" i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ru-RU" sz="22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ru-RU" sz="2200" i="0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&amp;1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</m:eqArr>
                            </m:e>
                          </m:d>
                        </m:e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055AB6-9DE0-C7A3-6380-5B255DBF3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09" y="2384666"/>
                <a:ext cx="5661061" cy="17665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4C9DCC-6E92-700A-468E-40AFCBD88970}"/>
                  </a:ext>
                </a:extLst>
              </p:cNvPr>
              <p:cNvSpPr txBox="1"/>
              <p:nvPr/>
            </p:nvSpPr>
            <p:spPr>
              <a:xfrm>
                <a:off x="7078681" y="2386519"/>
                <a:ext cx="5948737" cy="1766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ru-RU" sz="2200" i="0">
                          <a:latin typeface="Cambria Math" panose="02040503050406030204" pitchFamily="18" charset="0"/>
                        </a:rPr>
                        <m:t>= 3</m:t>
                      </m:r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&amp;1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</m:eqArr>
                            </m:e>
                          </m:d>
                        </m:e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4C9DCC-6E92-700A-468E-40AFCBD88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681" y="2386519"/>
                <a:ext cx="5948737" cy="17665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431911-A711-1F39-BB39-8200782B8375}"/>
                  </a:ext>
                </a:extLst>
              </p:cNvPr>
              <p:cNvSpPr txBox="1"/>
              <p:nvPr/>
            </p:nvSpPr>
            <p:spPr>
              <a:xfrm>
                <a:off x="3513700" y="4228836"/>
                <a:ext cx="7315200" cy="2550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ru-RU" sz="2200" i="0">
                          <a:latin typeface="Cambria Math" panose="02040503050406030204" pitchFamily="18" charset="0"/>
                        </a:rPr>
                        <m:t>= </m:t>
                      </m:r>
                      <m:rad>
                        <m:radPr>
                          <m:degHide m:val="on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f>
                                    <m:f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ru-RU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ru-RU" sz="2200" i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&amp;0</m:t>
                                  </m:r>
                                </m:e>
                                <m:e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f>
                                    <m:f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ru-RU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ru-RU" sz="2200" i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eqArr>
                            </m:e>
                          </m:d>
                        </m:e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431911-A711-1F39-BB39-8200782B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700" y="4228836"/>
                <a:ext cx="7315200" cy="25506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1295"/>
            <a:ext cx="90886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Фильтрация сигналов через SVD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78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SVD позволяет аппроксимировать матрицу матрицей меньшего ранга</a:t>
            </a:r>
            <a:r>
              <a:rPr lang="en-US" sz="3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7354" y="3315533"/>
            <a:ext cx="11257797" cy="2211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Построим</a:t>
            </a: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матрицу Ханкеля из исходного сигнала.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Выполни</a:t>
            </a:r>
            <a:r>
              <a:rPr lang="ru-RU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</a:t>
            </a: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сингулярное разложение: H = UΣVᵀ.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Остави</a:t>
            </a:r>
            <a:r>
              <a:rPr lang="ru-RU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</a:t>
            </a: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первые r компоненты с наибольшими σ для низкоранговой аппроксимации.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Прове</a:t>
            </a:r>
            <a:r>
              <a:rPr lang="ru-RU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дём</a:t>
            </a: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диагональное усреднение, чтобы </a:t>
            </a:r>
            <a:r>
              <a:rPr lang="ru-RU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преобразовать матрицу в</a:t>
            </a: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очищенный сигнал</a:t>
            </a: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00EC2-8893-382B-D589-A92777BE8EC6}"/>
              </a:ext>
            </a:extLst>
          </p:cNvPr>
          <p:cNvSpPr txBox="1"/>
          <p:nvPr/>
        </p:nvSpPr>
        <p:spPr>
          <a:xfrm>
            <a:off x="927354" y="2654668"/>
            <a:ext cx="574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фильтрации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4745"/>
            <a:ext cx="83016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Построение</a:t>
            </a:r>
            <a:r>
              <a:rPr lang="en-US" sz="45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матрицы Ханкеля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2074" y="2000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Параметры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872074" y="2581368"/>
                <a:ext cx="6244709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Дан сигнал 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x = (x₀, x₁,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Instrument Sans Medium" pitchFamily="34" charset="-122"/>
                            <a:cs typeface="Instrument Sans Medium" pitchFamily="34" charset="-120"/>
                          </a:rPr>
                        </m:ctrlPr>
                      </m:sSubPr>
                      <m:e>
                        <m:r>
                          <a:rPr lang="en-US" sz="2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Instrument Sans Medium" pitchFamily="34" charset="-122"/>
                            <a:cs typeface="Instrument Sans Medium" pitchFamily="34" charset="-120"/>
                          </a:rPr>
                          <m:t>𝒙</m:t>
                        </m:r>
                      </m:e>
                      <m:sub>
                        <m:r>
                          <a:rPr lang="en-US" sz="2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Instrument Sans Medium" pitchFamily="34" charset="-122"/>
                            <a:cs typeface="Instrument Sans Medium" pitchFamily="34" charset="-120"/>
                          </a:rPr>
                          <m:t>𝑵</m:t>
                        </m:r>
                        <m:r>
                          <a:rPr lang="en-US" sz="2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Instrument Sans Medium" pitchFamily="34" charset="-122"/>
                            <a:cs typeface="Instrument Sans Medium" pitchFamily="34" charset="-120"/>
                          </a:rPr>
                          <m:t>−</m:t>
                        </m:r>
                        <m:r>
                          <a:rPr lang="en-US" sz="22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Instrument Sans Medium" pitchFamily="34" charset="-122"/>
                            <a:cs typeface="Instrument Sans Medium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. Выбирается размер окна 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L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:</a:t>
                </a:r>
                <a:endParaRPr lang="en-US" sz="22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74" y="2581368"/>
                <a:ext cx="6244709" cy="725805"/>
              </a:xfrm>
              <a:prstGeom prst="rect">
                <a:avLst/>
              </a:prstGeom>
              <a:blipFill>
                <a:blip r:embed="rId3"/>
                <a:stretch>
                  <a:fillRect l="-2734" t="-10833" r="-3613" b="-20833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872074" y="3511247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 = L (число строк)</a:t>
            </a:r>
            <a:endParaRPr lang="en-US" sz="2200" dirty="0">
              <a:latin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 = N − m + 1 (число столбцов)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2074" y="45204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Элемент матрицы: </a:t>
            </a:r>
            <a:r>
              <a:rPr lang="en-US" sz="22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Hi,j = xi+j</a:t>
            </a: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Элементы на одной побочной диагонали одинаковы.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77805" y="2000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Структура матрицы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3669030"/>
            <a:ext cx="6244709" cy="168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A11BA1-F63A-8906-8A28-4AB8AB967629}"/>
                  </a:ext>
                </a:extLst>
              </p:cNvPr>
              <p:cNvSpPr txBox="1"/>
              <p:nvPr/>
            </p:nvSpPr>
            <p:spPr>
              <a:xfrm>
                <a:off x="6855440" y="2581368"/>
                <a:ext cx="7315200" cy="1699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2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ru-RU" sz="2200" i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A11BA1-F63A-8906-8A28-4AB8AB967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440" y="2581368"/>
                <a:ext cx="7315200" cy="16995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2633"/>
            <a:ext cx="104559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Н</a:t>
            </a:r>
            <a:r>
              <a:rPr lang="en-US" sz="4450" dirty="0" err="1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изкоранговая</a:t>
            </a:r>
            <a:r>
              <a:rPr lang="en-US" sz="445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аппроксимация</a:t>
            </a:r>
            <a:endParaRPr lang="en-US" sz="445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05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Разложение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23298"/>
            <a:ext cx="6244709" cy="926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99521" y="1905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Аппроксимация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99521" y="3523298"/>
            <a:ext cx="6244709" cy="91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93790" y="4100899"/>
            <a:ext cx="77579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Обратное преобразование — диагональное усреднение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93790" y="5771436"/>
            <a:ext cx="13042821" cy="85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87D607-F222-2D22-D09F-08E0A25B6A58}"/>
                  </a:ext>
                </a:extLst>
              </p:cNvPr>
              <p:cNvSpPr txBox="1"/>
              <p:nvPr/>
            </p:nvSpPr>
            <p:spPr>
              <a:xfrm>
                <a:off x="-284320" y="2693801"/>
                <a:ext cx="7315200" cy="757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200" i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ru-RU" sz="22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ru-RU" sz="22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87D607-F222-2D22-D09F-08E0A25B6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4320" y="2693801"/>
                <a:ext cx="7315200" cy="757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00ED94-8F19-A595-272D-A7D758F863EA}"/>
                  </a:ext>
                </a:extLst>
              </p:cNvPr>
              <p:cNvSpPr txBox="1"/>
              <p:nvPr/>
            </p:nvSpPr>
            <p:spPr>
              <a:xfrm>
                <a:off x="6565187" y="2716420"/>
                <a:ext cx="7459038" cy="757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ru-RU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200" i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ru-RU" sz="22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ru-RU" sz="2200" i="0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ru-RU" sz="22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ru-RU" sz="2200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sz="22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ru-RU" sz="22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00ED94-8F19-A595-272D-A7D758F86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187" y="2716420"/>
                <a:ext cx="7459038" cy="7575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F90EBC-EA1E-525C-6F1A-C41F013CF983}"/>
                  </a:ext>
                </a:extLst>
              </p:cNvPr>
              <p:cNvSpPr txBox="1"/>
              <p:nvPr/>
            </p:nvSpPr>
            <p:spPr>
              <a:xfrm>
                <a:off x="3790702" y="5082193"/>
                <a:ext cx="7459038" cy="1094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ru-RU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ru-RU" sz="2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=0 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−1 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acc>
                            <m:accPr>
                              <m:chr m:val="̃"/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sz="22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F90EBC-EA1E-525C-6F1A-C41F013CF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702" y="5082193"/>
                <a:ext cx="7459038" cy="10943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730012"/>
            <a:ext cx="6525697" cy="47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45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Визуализация фильтрации сигнала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9503" y="1416367"/>
            <a:ext cx="13297856" cy="405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Эффективность метода SVD для фильтрации сигнала наглядно демонстрируется сравнением исходного, зашумлённого и восстановленного сигналов.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775F34-D26C-8B5C-3B0C-19501EAE1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663" y="1961299"/>
            <a:ext cx="7872025" cy="183862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1970F9-74A7-9BCC-C516-34B839BFD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582" y="3799928"/>
            <a:ext cx="7872025" cy="184536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E2DC31-C9FB-AC40-A72E-4305964CC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622" y="5645289"/>
            <a:ext cx="7943944" cy="1882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1034</Words>
  <Application>Microsoft Office PowerPoint</Application>
  <PresentationFormat>Произвольный</PresentationFormat>
  <Paragraphs>143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Times New Roman</vt:lpstr>
      <vt:lpstr>Arial</vt:lpstr>
      <vt:lpstr>Cambria Math</vt:lpstr>
      <vt:lpstr>Aptos Display</vt:lpstr>
      <vt:lpstr>Aptos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Артём</dc:creator>
  <cp:lastModifiedBy>Lol Lol</cp:lastModifiedBy>
  <cp:revision>13</cp:revision>
  <dcterms:created xsi:type="dcterms:W3CDTF">2026-04-07T14:18:59Z</dcterms:created>
  <dcterms:modified xsi:type="dcterms:W3CDTF">2026-04-07T16:13:03Z</dcterms:modified>
</cp:coreProperties>
</file>