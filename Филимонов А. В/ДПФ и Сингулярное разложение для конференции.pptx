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82" r:id="rId1"/>
  </p:sldMasterIdLst>
  <p:notesMasterIdLst>
    <p:notesMasterId r:id="rId13"/>
  </p:notesMasterIdLst>
  <p:sldIdLst>
    <p:sldId id="268" r:id="rId2"/>
    <p:sldId id="256" r:id="rId3"/>
    <p:sldId id="258" r:id="rId4"/>
    <p:sldId id="259" r:id="rId5"/>
    <p:sldId id="266" r:id="rId6"/>
    <p:sldId id="260" r:id="rId7"/>
    <p:sldId id="261" r:id="rId8"/>
    <p:sldId id="262" r:id="rId9"/>
    <p:sldId id="263" r:id="rId10"/>
    <p:sldId id="264" r:id="rId11"/>
    <p:sldId id="269" r:id="rId12"/>
  </p:sldIdLst>
  <p:sldSz cx="14630400" cy="8229600"/>
  <p:notesSz cx="8229600" cy="14630400"/>
  <p:embeddedFontLst>
    <p:embeddedFont>
      <p:font typeface="Cambria Math" panose="02040503050406030204" pitchFamily="18" charset="0"/>
      <p:regular r:id="rId14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Светлый стиль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DBED569-4797-4DF1-A0F4-6AAB3CD982D8}" styleName="Светлый стиль 3 — акцент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Средний стиль 1 — акцент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5FD0F851-EC5A-4D38-B0AD-8093EC10F338}" styleName="Светлый стиль 1 — акцент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22838BEF-8BB2-4498-84A7-C5851F593DF1}" styleName="Средний стиль 4 — акцент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3" d="100"/>
          <a:sy n="93" d="100"/>
        </p:scale>
        <p:origin x="52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540276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 dirty="0">
              <a:latin typeface="Times New Roman" panose="02020603050405020304" pitchFamily="18" charset="0"/>
            </a:endParaRPr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Times New Roman" panose="02020603050405020304" pitchFamily="18" charset="0"/>
              </a:rPr>
              <a:t>2</a:t>
            </a:fld>
            <a:endParaRPr 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 dirty="0">
              <a:latin typeface="Times New Roman" panose="02020603050405020304" pitchFamily="18" charset="0"/>
            </a:endParaRPr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Times New Roman" panose="02020603050405020304" pitchFamily="18" charset="0"/>
              </a:rPr>
              <a:t>3</a:t>
            </a:fld>
            <a:endParaRPr 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 dirty="0">
              <a:latin typeface="Times New Roman" panose="02020603050405020304" pitchFamily="18" charset="0"/>
            </a:endParaRPr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Times New Roman" panose="02020603050405020304" pitchFamily="18" charset="0"/>
              </a:rPr>
              <a:t>4</a:t>
            </a:fld>
            <a:endParaRPr 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 dirty="0">
              <a:latin typeface="Times New Roman" panose="02020603050405020304" pitchFamily="18" charset="0"/>
            </a:endParaRPr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Times New Roman" panose="02020603050405020304" pitchFamily="18" charset="0"/>
              </a:rPr>
              <a:t>6</a:t>
            </a:fld>
            <a:endParaRPr 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 dirty="0">
              <a:latin typeface="Times New Roman" panose="02020603050405020304" pitchFamily="18" charset="0"/>
            </a:endParaRPr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Times New Roman" panose="02020603050405020304" pitchFamily="18" charset="0"/>
              </a:rPr>
              <a:t>7</a:t>
            </a:fld>
            <a:endParaRPr 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 dirty="0">
              <a:latin typeface="Times New Roman" panose="02020603050405020304" pitchFamily="18" charset="0"/>
            </a:endParaRPr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Times New Roman" panose="02020603050405020304" pitchFamily="18" charset="0"/>
              </a:rPr>
              <a:t>8</a:t>
            </a:fld>
            <a:endParaRPr 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 dirty="0">
              <a:latin typeface="Times New Roman" panose="02020603050405020304" pitchFamily="18" charset="0"/>
            </a:endParaRPr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Times New Roman" panose="02020603050405020304" pitchFamily="18" charset="0"/>
              </a:rPr>
              <a:t>9</a:t>
            </a:fld>
            <a:endParaRPr 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 dirty="0">
              <a:latin typeface="Times New Roman" panose="02020603050405020304" pitchFamily="18" charset="0"/>
            </a:endParaRPr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Times New Roman" panose="02020603050405020304" pitchFamily="18" charset="0"/>
              </a:rPr>
              <a:t>10</a:t>
            </a:fld>
            <a:endParaRPr 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AA1939B-2C69-5CEC-B83E-84C6AA4941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8800" y="1346836"/>
            <a:ext cx="10972800" cy="2865120"/>
          </a:xfrm>
        </p:spPr>
        <p:txBody>
          <a:bodyPr anchor="b"/>
          <a:lstStyle>
            <a:lvl1pPr algn="ctr">
              <a:defRPr sz="7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B8DEBB7C-745D-A211-342C-96C755B049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4322446"/>
            <a:ext cx="10972800" cy="1986914"/>
          </a:xfrm>
        </p:spPr>
        <p:txBody>
          <a:bodyPr/>
          <a:lstStyle>
            <a:lvl1pPr marL="0" indent="0" algn="ctr">
              <a:buNone/>
              <a:defRPr sz="2880"/>
            </a:lvl1pPr>
            <a:lvl2pPr marL="548640" indent="0" algn="ctr">
              <a:buNone/>
              <a:defRPr sz="2400"/>
            </a:lvl2pPr>
            <a:lvl3pPr marL="1097280" indent="0" algn="ctr">
              <a:buNone/>
              <a:defRPr sz="2160"/>
            </a:lvl3pPr>
            <a:lvl4pPr marL="1645920" indent="0" algn="ctr">
              <a:buNone/>
              <a:defRPr sz="1920"/>
            </a:lvl4pPr>
            <a:lvl5pPr marL="2194560" indent="0" algn="ctr">
              <a:buNone/>
              <a:defRPr sz="1920"/>
            </a:lvl5pPr>
            <a:lvl6pPr marL="2743200" indent="0" algn="ctr">
              <a:buNone/>
              <a:defRPr sz="1920"/>
            </a:lvl6pPr>
            <a:lvl7pPr marL="3291840" indent="0" algn="ctr">
              <a:buNone/>
              <a:defRPr sz="1920"/>
            </a:lvl7pPr>
            <a:lvl8pPr marL="3840480" indent="0" algn="ctr">
              <a:buNone/>
              <a:defRPr sz="1920"/>
            </a:lvl8pPr>
            <a:lvl9pPr marL="4389120" indent="0" algn="ctr">
              <a:buNone/>
              <a:defRPr sz="192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B57E876-5FD7-5C68-26C4-7B0BE4294E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651FA9-ADE1-4548-A5C3-336F9F0EAA53}" type="datetimeFigureOut">
              <a:rPr lang="ru-RU" smtClean="0"/>
              <a:t>08.04.2026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19E9ACD-8612-B374-BDDB-F8D2E06A82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A47888C-64A8-B07E-1C4B-90ADC0E805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8D4CB-B6F9-4B6C-8E48-17A8191933F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17827548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3DFF755-9F72-65B4-0DCA-2C4A9912C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4E5EB4E-2A8B-4C02-72FB-2E72BEB439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A986D9A-6C6C-8CA5-08D7-AC46EAEE96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651FA9-ADE1-4548-A5C3-336F9F0EAA53}" type="datetimeFigureOut">
              <a:rPr lang="ru-RU" smtClean="0"/>
              <a:t>08.04.2026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4ADCD13-EE6E-AEAD-DB77-345FB380BF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B1FCED7-637B-4596-9BA9-BA45BCD5D9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8D4CB-B6F9-4B6C-8E48-17A8191933F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5981414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4F71E34-F15A-1331-969D-C0178B4A30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8220" y="2051686"/>
            <a:ext cx="12618720" cy="3423284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64B1C9F-79FC-ED36-C51F-A16BC1B52C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98220" y="5507356"/>
            <a:ext cx="12618720" cy="1800224"/>
          </a:xfrm>
        </p:spPr>
        <p:txBody>
          <a:bodyPr/>
          <a:lstStyle>
            <a:lvl1pPr marL="0" indent="0">
              <a:buNone/>
              <a:defRPr sz="2880">
                <a:solidFill>
                  <a:schemeClr val="tx1">
                    <a:tint val="82000"/>
                  </a:schemeClr>
                </a:solidFill>
              </a:defRPr>
            </a:lvl1pPr>
            <a:lvl2pPr marL="54864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2pPr>
            <a:lvl3pPr marL="1097280" indent="0">
              <a:buNone/>
              <a:defRPr sz="2160">
                <a:solidFill>
                  <a:schemeClr val="tx1">
                    <a:tint val="82000"/>
                  </a:schemeClr>
                </a:solidFill>
              </a:defRPr>
            </a:lvl3pPr>
            <a:lvl4pPr marL="164592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4pPr>
            <a:lvl5pPr marL="219456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5pPr>
            <a:lvl6pPr marL="274320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6pPr>
            <a:lvl7pPr marL="329184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7pPr>
            <a:lvl8pPr marL="384048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8pPr>
            <a:lvl9pPr marL="438912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022930D-34F1-BF77-E953-A1FF451E2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651FA9-ADE1-4548-A5C3-336F9F0EAA53}" type="datetimeFigureOut">
              <a:rPr lang="ru-RU" smtClean="0"/>
              <a:t>08.04.2026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6B841B4-9D2E-46F5-0678-FFEDF5718E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D462B44-63BC-8689-BF3E-D65EA44F7C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8D4CB-B6F9-4B6C-8E48-17A8191933F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03013445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7B1CF3A-4404-DDAB-F80E-98E5DB6766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C0FF0E8-4C24-FD35-78F2-BFF08AB3288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05840" y="2190750"/>
            <a:ext cx="6217920" cy="5221606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C49B0A2-6657-27F5-8A1B-4A2D6E34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406640" y="2190750"/>
            <a:ext cx="6217920" cy="5221606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BB9CA84-6C30-E2B3-9F0C-75C5103CD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651FA9-ADE1-4548-A5C3-336F9F0EAA53}" type="datetimeFigureOut">
              <a:rPr lang="ru-RU" smtClean="0"/>
              <a:t>08.04.2026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6F469FC8-5B14-0BED-155E-FCF1C17269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1E82363-1968-55BF-F9D0-F0DDD9091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8D4CB-B6F9-4B6C-8E48-17A8191933F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44131473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514E187-E0B7-2018-AA4E-8811F42675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7746" y="438150"/>
            <a:ext cx="12618720" cy="1590676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8DBA724-E795-502F-3276-6BCE97DEF5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07746" y="2017396"/>
            <a:ext cx="6189344" cy="988694"/>
          </a:xfrm>
        </p:spPr>
        <p:txBody>
          <a:bodyPr anchor="b"/>
          <a:lstStyle>
            <a:lvl1pPr marL="0" indent="0">
              <a:buNone/>
              <a:defRPr sz="2880" b="1"/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7270BE96-80D9-C5BA-40FB-659F8307BB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07746" y="3006090"/>
            <a:ext cx="6189344" cy="4421506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AA91C173-988F-1CF9-0ACA-4C6E0035BA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406640" y="2017396"/>
            <a:ext cx="6219826" cy="988694"/>
          </a:xfrm>
        </p:spPr>
        <p:txBody>
          <a:bodyPr anchor="b"/>
          <a:lstStyle>
            <a:lvl1pPr marL="0" indent="0">
              <a:buNone/>
              <a:defRPr sz="2880" b="1"/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783780E3-0EF2-F538-73D7-E2FE942F39E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7406640" y="3006090"/>
            <a:ext cx="6219826" cy="4421506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E8530706-959B-758D-5D6E-6546A89201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651FA9-ADE1-4548-A5C3-336F9F0EAA53}" type="datetimeFigureOut">
              <a:rPr lang="ru-RU" smtClean="0"/>
              <a:t>08.04.2026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3FCC0BBA-9924-B1AF-F3A0-B9A10D1A05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D9358F74-A77F-7FBE-4ABC-EE67A1B89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8D4CB-B6F9-4B6C-8E48-17A8191933F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0433727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AAB3CB0-440F-7010-4F8E-021288FF5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AAB2CBDB-43D3-57B7-7163-DD0F59656C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651FA9-ADE1-4548-A5C3-336F9F0EAA53}" type="datetimeFigureOut">
              <a:rPr lang="ru-RU" smtClean="0"/>
              <a:t>08.04.2026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99027DA1-8119-258F-369D-D29A1BFF8A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6450673F-2909-891E-751A-883FC4AFD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8D4CB-B6F9-4B6C-8E48-17A8191933F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05867368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AA321AC6-26C2-9506-4ECE-90BC55F169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651FA9-ADE1-4548-A5C3-336F9F0EAA53}" type="datetimeFigureOut">
              <a:rPr lang="ru-RU" smtClean="0"/>
              <a:t>08.04.2026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9158A6B5-7158-8B0C-18A8-D2806AE5C0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670DABE-7570-BF32-7EBC-9BADEE7F5F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8D4CB-B6F9-4B6C-8E48-17A8191933F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76261538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4A31E15-CFAA-F88B-4392-70F3979A56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7746" y="548640"/>
            <a:ext cx="4718684" cy="1920240"/>
          </a:xfrm>
        </p:spPr>
        <p:txBody>
          <a:bodyPr anchor="b"/>
          <a:lstStyle>
            <a:lvl1pPr>
              <a:defRPr sz="384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BCEAD0E-ADC6-E95E-BBFD-792EC42676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19826" y="1184911"/>
            <a:ext cx="7406640" cy="5848350"/>
          </a:xfrm>
        </p:spPr>
        <p:txBody>
          <a:bodyPr/>
          <a:lstStyle>
            <a:lvl1pPr>
              <a:defRPr sz="3840"/>
            </a:lvl1pPr>
            <a:lvl2pPr>
              <a:defRPr sz="3360"/>
            </a:lvl2pPr>
            <a:lvl3pPr>
              <a:defRPr sz="2880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87411B1-862E-9ED8-B555-AB021457A7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07746" y="2468880"/>
            <a:ext cx="4718684" cy="4573906"/>
          </a:xfrm>
        </p:spPr>
        <p:txBody>
          <a:bodyPr/>
          <a:lstStyle>
            <a:lvl1pPr marL="0" indent="0">
              <a:buNone/>
              <a:defRPr sz="1920"/>
            </a:lvl1pPr>
            <a:lvl2pPr marL="548640" indent="0">
              <a:buNone/>
              <a:defRPr sz="1680"/>
            </a:lvl2pPr>
            <a:lvl3pPr marL="1097280" indent="0">
              <a:buNone/>
              <a:defRPr sz="1440"/>
            </a:lvl3pPr>
            <a:lvl4pPr marL="1645920" indent="0">
              <a:buNone/>
              <a:defRPr sz="1200"/>
            </a:lvl4pPr>
            <a:lvl5pPr marL="2194560" indent="0">
              <a:buNone/>
              <a:defRPr sz="1200"/>
            </a:lvl5pPr>
            <a:lvl6pPr marL="2743200" indent="0">
              <a:buNone/>
              <a:defRPr sz="1200"/>
            </a:lvl6pPr>
            <a:lvl7pPr marL="3291840" indent="0">
              <a:buNone/>
              <a:defRPr sz="1200"/>
            </a:lvl7pPr>
            <a:lvl8pPr marL="3840480" indent="0">
              <a:buNone/>
              <a:defRPr sz="1200"/>
            </a:lvl8pPr>
            <a:lvl9pPr marL="4389120" indent="0">
              <a:buNone/>
              <a:defRPr sz="12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973CBDC-C678-46F7-6646-A8D5107401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651FA9-ADE1-4548-A5C3-336F9F0EAA53}" type="datetimeFigureOut">
              <a:rPr lang="ru-RU" smtClean="0"/>
              <a:t>08.04.2026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BECBC78-0EE0-884D-F087-BC865D041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D2DBBC4-DC2B-24C9-DA14-77C5DAEB2E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8D4CB-B6F9-4B6C-8E48-17A8191933F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68940819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B1A97F1-A927-974D-60AA-667BF92509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7746" y="548640"/>
            <a:ext cx="4718684" cy="1920240"/>
          </a:xfrm>
        </p:spPr>
        <p:txBody>
          <a:bodyPr anchor="b"/>
          <a:lstStyle>
            <a:lvl1pPr>
              <a:defRPr sz="384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FF3C5848-4C6C-A7D8-4A8A-4283846CBF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219826" y="1184911"/>
            <a:ext cx="7406640" cy="5848350"/>
          </a:xfrm>
        </p:spPr>
        <p:txBody>
          <a:bodyPr/>
          <a:lstStyle>
            <a:lvl1pPr marL="0" indent="0">
              <a:buNone/>
              <a:defRPr sz="3840"/>
            </a:lvl1pPr>
            <a:lvl2pPr marL="548640" indent="0">
              <a:buNone/>
              <a:defRPr sz="3360"/>
            </a:lvl2pPr>
            <a:lvl3pPr marL="1097280" indent="0">
              <a:buNone/>
              <a:defRPr sz="2880"/>
            </a:lvl3pPr>
            <a:lvl4pPr marL="1645920" indent="0">
              <a:buNone/>
              <a:defRPr sz="2400"/>
            </a:lvl4pPr>
            <a:lvl5pPr marL="2194560" indent="0">
              <a:buNone/>
              <a:defRPr sz="2400"/>
            </a:lvl5pPr>
            <a:lvl6pPr marL="2743200" indent="0">
              <a:buNone/>
              <a:defRPr sz="2400"/>
            </a:lvl6pPr>
            <a:lvl7pPr marL="3291840" indent="0">
              <a:buNone/>
              <a:defRPr sz="2400"/>
            </a:lvl7pPr>
            <a:lvl8pPr marL="3840480" indent="0">
              <a:buNone/>
              <a:defRPr sz="2400"/>
            </a:lvl8pPr>
            <a:lvl9pPr marL="4389120" indent="0">
              <a:buNone/>
              <a:defRPr sz="24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41077A66-00F6-0033-C170-9ADD37196E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07746" y="2468880"/>
            <a:ext cx="4718684" cy="4573906"/>
          </a:xfrm>
        </p:spPr>
        <p:txBody>
          <a:bodyPr/>
          <a:lstStyle>
            <a:lvl1pPr marL="0" indent="0">
              <a:buNone/>
              <a:defRPr sz="1920"/>
            </a:lvl1pPr>
            <a:lvl2pPr marL="548640" indent="0">
              <a:buNone/>
              <a:defRPr sz="1680"/>
            </a:lvl2pPr>
            <a:lvl3pPr marL="1097280" indent="0">
              <a:buNone/>
              <a:defRPr sz="1440"/>
            </a:lvl3pPr>
            <a:lvl4pPr marL="1645920" indent="0">
              <a:buNone/>
              <a:defRPr sz="1200"/>
            </a:lvl4pPr>
            <a:lvl5pPr marL="2194560" indent="0">
              <a:buNone/>
              <a:defRPr sz="1200"/>
            </a:lvl5pPr>
            <a:lvl6pPr marL="2743200" indent="0">
              <a:buNone/>
              <a:defRPr sz="1200"/>
            </a:lvl6pPr>
            <a:lvl7pPr marL="3291840" indent="0">
              <a:buNone/>
              <a:defRPr sz="1200"/>
            </a:lvl7pPr>
            <a:lvl8pPr marL="3840480" indent="0">
              <a:buNone/>
              <a:defRPr sz="1200"/>
            </a:lvl8pPr>
            <a:lvl9pPr marL="4389120" indent="0">
              <a:buNone/>
              <a:defRPr sz="12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E267D07-7DA0-FE5C-A75E-2DB3F2949D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651FA9-ADE1-4548-A5C3-336F9F0EAA53}" type="datetimeFigureOut">
              <a:rPr lang="ru-RU" smtClean="0"/>
              <a:t>08.04.2026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E42BA1C-5A13-10EF-EE26-083654DFEB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D84434D-9DFF-B79D-696B-6AD81D968D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8D4CB-B6F9-4B6C-8E48-17A8191933F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57308359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47F5FA-2B18-6522-FB5A-93EB89A7B4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92B51F6-7EEF-AB43-FCC4-8AF031B481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9C364E4-0A9D-1701-9FFE-3B913B2A58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651FA9-ADE1-4548-A5C3-336F9F0EAA53}" type="datetimeFigureOut">
              <a:rPr lang="ru-RU" smtClean="0"/>
              <a:t>08.04.2026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6B7C95A-22D1-3DA3-0C1A-B6798E7708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1F7E282-F689-F819-E93D-C6BFAC7F4D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8D4CB-B6F9-4B6C-8E48-17A8191933F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504621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AB0E9FBD-105E-2BAE-1B35-F145ED9869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0469880" y="438150"/>
            <a:ext cx="3154680" cy="6974206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A02F5B15-D796-F401-F936-34E4375841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005840" y="438150"/>
            <a:ext cx="9281160" cy="6974206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C8E3B78-D5F6-C34E-DB9B-F21AF32B4B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651FA9-ADE1-4548-A5C3-336F9F0EAA53}" type="datetimeFigureOut">
              <a:rPr lang="ru-RU" smtClean="0"/>
              <a:t>08.04.2026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65A5E80-038A-F265-7BBA-B3F39ED259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8A8F426-EE9F-5D29-C8DB-BFF6FA14F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8D4CB-B6F9-4B6C-8E48-17A8191933F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13167389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8274839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5329059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421695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2865563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5189235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9083783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4641506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673451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F467635-D392-7385-6C0A-12E034D7B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5840" y="438150"/>
            <a:ext cx="12618720" cy="15906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564DE79-56EE-80B6-4050-9B9AFD8055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05840" y="2190750"/>
            <a:ext cx="12618720" cy="52216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D5C0AB9-528C-5446-F071-49B30A7916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05840" y="7627621"/>
            <a:ext cx="329184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651FA9-ADE1-4548-A5C3-336F9F0EAA53}" type="datetimeFigureOut">
              <a:rPr lang="ru-RU" smtClean="0"/>
              <a:pPr/>
              <a:t>08.04.2026</a:t>
            </a:fld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24F5245-DDEF-245B-97D3-73D46B353B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846320" y="7627621"/>
            <a:ext cx="493776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7F7C035-7F8B-CC7A-7634-5379708AF3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32720" y="7627621"/>
            <a:ext cx="329184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228D4CB-B6F9-4B6C-8E48-17A8191933FC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239628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84" r:id="rId2"/>
    <p:sldLayoutId id="2147483685" r:id="rId3"/>
    <p:sldLayoutId id="2147483686" r:id="rId4"/>
    <p:sldLayoutId id="2147483687" r:id="rId5"/>
    <p:sldLayoutId id="2147483688" r:id="rId6"/>
    <p:sldLayoutId id="2147483689" r:id="rId7"/>
    <p:sldLayoutId id="2147483690" r:id="rId8"/>
    <p:sldLayoutId id="2147483691" r:id="rId9"/>
    <p:sldLayoutId id="2147483692" r:id="rId10"/>
    <p:sldLayoutId id="2147483693" r:id="rId11"/>
    <p:sldLayoutId id="2147483694" r:id="rId12"/>
    <p:sldLayoutId id="2147483696" r:id="rId13"/>
    <p:sldLayoutId id="2147483697" r:id="rId14"/>
    <p:sldLayoutId id="2147483698" r:id="rId15"/>
    <p:sldLayoutId id="2147483699" r:id="rId16"/>
    <p:sldLayoutId id="2147483700" r:id="rId17"/>
    <p:sldLayoutId id="2147483701" r:id="rId18"/>
    <p:sldLayoutId id="2147483702" r:id="rId19"/>
  </p:sldLayoutIdLst>
  <p:hf sldNum="0" hdr="0" ftr="0" dt="0"/>
  <p:txStyles>
    <p:titleStyle>
      <a:lvl1pPr algn="l" defTabSz="1097280" rtl="0" eaLnBrk="1" latinLnBrk="0" hangingPunct="1">
        <a:lnSpc>
          <a:spcPct val="90000"/>
        </a:lnSpc>
        <a:spcBef>
          <a:spcPct val="0"/>
        </a:spcBef>
        <a:buNone/>
        <a:defRPr sz="528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74320" indent="-274320" algn="l" defTabSz="109728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1pPr>
      <a:lvl2pPr marL="82296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46888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301752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56616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411480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66344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2pPr>
      <a:lvl3pPr marL="10972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3pPr>
      <a:lvl4pPr marL="16459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19456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274320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2918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38404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3891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9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#fn1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2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9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FC79F1B-B57D-5CB0-0168-72FAF36519D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Фильтрация сигналов сингулярным разделением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D59C922D-3F66-493B-5D55-980FE35440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780998" y="5315903"/>
            <a:ext cx="4849402" cy="1986914"/>
          </a:xfrm>
        </p:spPr>
        <p:txBody>
          <a:bodyPr/>
          <a:lstStyle/>
          <a:p>
            <a:r>
              <a:rPr lang="ru-RU" dirty="0"/>
              <a:t>Выполнили студенты группы РСК-21</a:t>
            </a:r>
            <a:br>
              <a:rPr lang="ru-RU" dirty="0"/>
            </a:br>
            <a:r>
              <a:rPr lang="ru-RU" dirty="0"/>
              <a:t>Филимонов А</a:t>
            </a:r>
            <a:br>
              <a:rPr lang="ru-RU" dirty="0"/>
            </a:br>
            <a:r>
              <a:rPr lang="ru-RU" dirty="0" err="1"/>
              <a:t>Шубёнкин</a:t>
            </a:r>
            <a:r>
              <a:rPr lang="ru-RU" dirty="0"/>
              <a:t> М</a:t>
            </a:r>
          </a:p>
        </p:txBody>
      </p:sp>
    </p:spTree>
    <p:extLst>
      <p:ext uri="{BB962C8B-B14F-4D97-AF65-F5344CB8AC3E}">
        <p14:creationId xmlns:p14="http://schemas.microsoft.com/office/powerpoint/2010/main" val="42740918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7250" y="636924"/>
            <a:ext cx="11953637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500" dirty="0">
                <a:latin typeface="Times New Roman" panose="02020603050405020304" pitchFamily="18" charset="0"/>
                <a:ea typeface="Instrument Sans Semi Bold" pitchFamily="34" charset="-122"/>
                <a:cs typeface="Times New Roman" panose="02020603050405020304" pitchFamily="18" charset="0"/>
              </a:rPr>
              <a:t>Собственные</a:t>
            </a:r>
            <a:r>
              <a:rPr lang="en-US" sz="4450" dirty="0">
                <a:latin typeface="Times New Roman" panose="02020603050405020304" pitchFamily="18" charset="0"/>
                <a:ea typeface="Instrument Sans Semi Bold" pitchFamily="34" charset="-122"/>
                <a:cs typeface="Times New Roman" panose="02020603050405020304" pitchFamily="18" charset="0"/>
              </a:rPr>
              <a:t> значения и векторы матрицы</a:t>
            </a:r>
            <a:endParaRPr lang="en-US" sz="4450" dirty="0">
              <a:latin typeface="Times New Roman" panose="02020603050405020304" pitchFamily="18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879261" y="2370118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latin typeface="Times New Roman" panose="02020603050405020304" pitchFamily="18" charset="0"/>
                <a:ea typeface="Instrument Sans Semi Bold" pitchFamily="34" charset="-122"/>
                <a:cs typeface="Times New Roman" panose="02020603050405020304" pitchFamily="18" charset="0"/>
              </a:rPr>
              <a:t>Определение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879261" y="2951262"/>
            <a:ext cx="6117788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900" dirty="0">
                <a:latin typeface="Times New Roman" panose="02020603050405020304" pitchFamily="18" charset="0"/>
                <a:ea typeface="Instrument Sans Medium" pitchFamily="34" charset="-122"/>
                <a:cs typeface="Times New Roman" panose="02020603050405020304" pitchFamily="18" charset="0"/>
              </a:rPr>
              <a:t>Число </a:t>
            </a:r>
            <a:r>
              <a:rPr lang="en-US" sz="1900" b="1" dirty="0">
                <a:latin typeface="Times New Roman" panose="02020603050405020304" pitchFamily="18" charset="0"/>
                <a:ea typeface="Instrument Sans Medium" pitchFamily="34" charset="-122"/>
                <a:cs typeface="Times New Roman" panose="02020603050405020304" pitchFamily="18" charset="0"/>
              </a:rPr>
              <a:t>λ</a:t>
            </a:r>
            <a:r>
              <a:rPr lang="en-US" sz="1900" dirty="0">
                <a:latin typeface="Times New Roman" panose="02020603050405020304" pitchFamily="18" charset="0"/>
                <a:ea typeface="Instrument Sans Medium" pitchFamily="34" charset="-122"/>
                <a:cs typeface="Times New Roman" panose="02020603050405020304" pitchFamily="18" charset="0"/>
              </a:rPr>
              <a:t> — собственное значение матрицы </a:t>
            </a:r>
            <a:r>
              <a:rPr lang="en-US" sz="1900" b="1" dirty="0">
                <a:latin typeface="Times New Roman" panose="02020603050405020304" pitchFamily="18" charset="0"/>
                <a:ea typeface="Instrument Sans Medium" pitchFamily="34" charset="-122"/>
                <a:cs typeface="Times New Roman" panose="02020603050405020304" pitchFamily="18" charset="0"/>
              </a:rPr>
              <a:t>A</a:t>
            </a:r>
            <a:r>
              <a:rPr lang="en-US" sz="1900" dirty="0">
                <a:latin typeface="Times New Roman" panose="02020603050405020304" pitchFamily="18" charset="0"/>
                <a:ea typeface="Instrument Sans Medium" pitchFamily="34" charset="-122"/>
                <a:cs typeface="Times New Roman" panose="02020603050405020304" pitchFamily="18" charset="0"/>
              </a:rPr>
              <a:t>, если существует ненулевой вектор </a:t>
            </a:r>
            <a:r>
              <a:rPr lang="en-US" sz="1900" b="1" dirty="0">
                <a:latin typeface="Times New Roman" panose="02020603050405020304" pitchFamily="18" charset="0"/>
                <a:ea typeface="Instrument Sans Medium" pitchFamily="34" charset="-122"/>
                <a:cs typeface="Times New Roman" panose="02020603050405020304" pitchFamily="18" charset="0"/>
              </a:rPr>
              <a:t>x</a:t>
            </a:r>
            <a:r>
              <a:rPr lang="en-US" sz="1900" dirty="0">
                <a:latin typeface="Times New Roman" panose="02020603050405020304" pitchFamily="18" charset="0"/>
                <a:ea typeface="Instrument Sans Medium" pitchFamily="34" charset="-122"/>
                <a:cs typeface="Times New Roman" panose="02020603050405020304" pitchFamily="18" charset="0"/>
              </a:rPr>
              <a:t> такой, что:</a:t>
            </a:r>
            <a:endParaRPr lang="en-US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857250" y="4544378"/>
            <a:ext cx="6117788" cy="393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200"/>
              </a:lnSpc>
              <a:buNone/>
            </a:pPr>
            <a:endParaRPr lang="en-US" sz="2000" dirty="0">
              <a:latin typeface="Times New Roman" panose="02020603050405020304" pitchFamily="18" charset="0"/>
            </a:endParaRPr>
          </a:p>
        </p:txBody>
      </p:sp>
      <p:sp>
        <p:nvSpPr>
          <p:cNvPr id="8" name="Text 5"/>
          <p:cNvSpPr/>
          <p:nvPr/>
        </p:nvSpPr>
        <p:spPr>
          <a:xfrm>
            <a:off x="879261" y="4644450"/>
            <a:ext cx="6117788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200" dirty="0">
                <a:latin typeface="Times New Roman" panose="02020603050405020304" pitchFamily="18" charset="0"/>
                <a:ea typeface="Instrument Sans Medium" pitchFamily="34" charset="-122"/>
                <a:cs typeface="Times New Roman" panose="02020603050405020304" pitchFamily="18" charset="0"/>
              </a:rPr>
              <a:t>Вектор </a:t>
            </a:r>
            <a:r>
              <a:rPr lang="en-US" sz="2200" b="1" dirty="0">
                <a:latin typeface="Times New Roman" panose="02020603050405020304" pitchFamily="18" charset="0"/>
                <a:ea typeface="Instrument Sans Medium" pitchFamily="34" charset="-122"/>
                <a:cs typeface="Times New Roman" panose="02020603050405020304" pitchFamily="18" charset="0"/>
              </a:rPr>
              <a:t>x</a:t>
            </a:r>
            <a:r>
              <a:rPr lang="en-US" sz="2200" dirty="0">
                <a:latin typeface="Times New Roman" panose="02020603050405020304" pitchFamily="18" charset="0"/>
                <a:ea typeface="Instrument Sans Medium" pitchFamily="34" charset="-122"/>
                <a:cs typeface="Times New Roman" panose="02020603050405020304" pitchFamily="18" charset="0"/>
              </a:rPr>
              <a:t> называется собственным вектором, соответствующим λ.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 6"/>
          <p:cNvSpPr/>
          <p:nvPr/>
        </p:nvSpPr>
        <p:spPr>
          <a:xfrm>
            <a:off x="7793551" y="2534678"/>
            <a:ext cx="4978122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Нахождение собственных значений</a:t>
            </a:r>
          </a:p>
        </p:txBody>
      </p:sp>
      <p:sp>
        <p:nvSpPr>
          <p:cNvPr id="10" name="Text 7"/>
          <p:cNvSpPr/>
          <p:nvPr/>
        </p:nvSpPr>
        <p:spPr>
          <a:xfrm>
            <a:off x="7793551" y="3115822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Составляется уравнение</a:t>
            </a:r>
            <a:r>
              <a:rPr lang="en-US" sz="1750" dirty="0">
                <a:solidFill>
                  <a:srgbClr val="1E306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1750" dirty="0">
              <a:latin typeface="Times New Roman" panose="02020603050405020304" pitchFamily="18" charset="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7599521" y="4181475"/>
            <a:ext cx="6244709" cy="393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200"/>
              </a:lnSpc>
              <a:buNone/>
            </a:pPr>
            <a:endParaRPr lang="en-US" sz="2000" dirty="0">
              <a:latin typeface="Times New Roman" panose="02020603050405020304" pitchFamily="18" charset="0"/>
            </a:endParaRPr>
          </a:p>
        </p:txBody>
      </p:sp>
      <p:sp>
        <p:nvSpPr>
          <p:cNvPr id="13" name="Text 9"/>
          <p:cNvSpPr/>
          <p:nvPr/>
        </p:nvSpPr>
        <p:spPr>
          <a:xfrm>
            <a:off x="7793551" y="4446107"/>
            <a:ext cx="624470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000" dirty="0">
                <a:latin typeface="Times New Roman" panose="02020603050405020304" pitchFamily="18" charset="0"/>
                <a:ea typeface="Instrument Sans Medium" pitchFamily="34" charset="-122"/>
                <a:cs typeface="Times New Roman" panose="02020603050405020304" pitchFamily="18" charset="0"/>
              </a:rPr>
              <a:t>После нахождения λ собственные векторы определяются из системы: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 10"/>
          <p:cNvSpPr/>
          <p:nvPr/>
        </p:nvSpPr>
        <p:spPr>
          <a:xfrm>
            <a:off x="7599521" y="5874663"/>
            <a:ext cx="6244709" cy="393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200"/>
              </a:lnSpc>
              <a:buNone/>
            </a:pPr>
            <a:endParaRPr lang="en-US" sz="2000" dirty="0">
              <a:latin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DC2A393-F61B-B74B-97F3-A563DDD261F7}"/>
                  </a:ext>
                </a:extLst>
              </p:cNvPr>
              <p:cNvSpPr txBox="1"/>
              <p:nvPr/>
            </p:nvSpPr>
            <p:spPr>
              <a:xfrm>
                <a:off x="9154274" y="3667022"/>
                <a:ext cx="2892621" cy="46166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000" b="0" i="1" smtClean="0">
                          <a:latin typeface="Cambria Math" panose="02040503050406030204" pitchFamily="18" charset="0"/>
                        </a:rPr>
                        <m:t>det</m:t>
                      </m:r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sz="3000" b="0" i="1" smtClean="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3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m:rPr>
                          <m:sty m:val="p"/>
                        </m:rPr>
                        <a:rPr lang="en-US" sz="3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I</m:t>
                      </m:r>
                      <m:r>
                        <a:rPr lang="en-US" sz="3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)=0</m:t>
                      </m:r>
                    </m:oMath>
                  </m:oMathPara>
                </a14:m>
                <a:endParaRPr lang="ru-RU" sz="3000" dirty="0">
                  <a:latin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DC2A393-F61B-B74B-97F3-A563DDD261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54274" y="3667022"/>
                <a:ext cx="2892621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DBFE8700-A7C8-AFD2-AE4E-AD6203C1F006}"/>
                  </a:ext>
                </a:extLst>
              </p:cNvPr>
              <p:cNvSpPr txBox="1"/>
              <p:nvPr/>
            </p:nvSpPr>
            <p:spPr>
              <a:xfrm>
                <a:off x="6942984" y="5320665"/>
                <a:ext cx="7315200" cy="5539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0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kumimoji="0" lang="en-US" sz="3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A</m:t>
                      </m:r>
                      <m:r>
                        <a:rPr kumimoji="0" lang="en-US" sz="3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−</m:t>
                      </m:r>
                      <m:r>
                        <a:rPr kumimoji="0" lang="en-US" sz="3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𝜆</m:t>
                      </m:r>
                      <m:r>
                        <m:rPr>
                          <m:sty m:val="p"/>
                        </m:rPr>
                        <a:rPr kumimoji="0" lang="en-US" sz="3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I</m:t>
                      </m:r>
                      <m:r>
                        <a:rPr kumimoji="0" lang="en-US" sz="3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)</m:t>
                      </m:r>
                      <m:r>
                        <m:rPr>
                          <m:sty m:val="p"/>
                        </m:rPr>
                        <a:rPr kumimoji="0" lang="en-US" sz="3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x</m:t>
                      </m:r>
                      <m:r>
                        <a:rPr kumimoji="0" lang="en-US" sz="3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=0</m:t>
                      </m:r>
                    </m:oMath>
                  </m:oMathPara>
                </a14:m>
                <a:endParaRPr kumimoji="0" lang="ru-RU" sz="3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 panose="02020603050405020304" pitchFamily="18" charset="0"/>
                  <a:ea typeface="+mn-ea"/>
                  <a:cs typeface="+mn-cs"/>
                </a:endParaRPr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DBFE8700-A7C8-AFD2-AE4E-AD6203C1F0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2984" y="5320665"/>
                <a:ext cx="7315200" cy="55399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DC695A97-F70A-7FFC-54D1-017BC110B41F}"/>
                  </a:ext>
                </a:extLst>
              </p:cNvPr>
              <p:cNvSpPr txBox="1"/>
              <p:nvPr/>
            </p:nvSpPr>
            <p:spPr>
              <a:xfrm>
                <a:off x="-284320" y="3837801"/>
                <a:ext cx="7315200" cy="5539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sz="3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Ax</m:t>
                      </m:r>
                      <m:r>
                        <a:rPr kumimoji="0" lang="en-US" sz="3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0" lang="en-US" sz="3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m:rPr>
                          <m:sty m:val="p"/>
                        </m:rPr>
                        <a:rPr kumimoji="0" lang="en-US" sz="3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x</m:t>
                      </m:r>
                    </m:oMath>
                  </m:oMathPara>
                </a14:m>
                <a:endParaRPr lang="ru-RU" sz="3000" dirty="0">
                  <a:latin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DC695A97-F70A-7FFC-54D1-017BC110B4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84320" y="3837801"/>
                <a:ext cx="7315200" cy="55399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781407"/>
            <a:ext cx="8887063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500" dirty="0">
                <a:latin typeface="Times New Roman" panose="02020603050405020304" pitchFamily="18" charset="0"/>
                <a:ea typeface="Instrument Sans Semi Bold" pitchFamily="34" charset="-122"/>
                <a:cs typeface="Times New Roman" panose="02020603050405020304" pitchFamily="18" charset="0"/>
              </a:rPr>
              <a:t>Сингулярное</a:t>
            </a:r>
            <a:r>
              <a:rPr lang="en-US" sz="4450" dirty="0">
                <a:latin typeface="Times New Roman" panose="02020603050405020304" pitchFamily="18" charset="0"/>
                <a:ea typeface="Instrument Sans Semi Bold" pitchFamily="34" charset="-122"/>
                <a:cs typeface="Times New Roman" panose="02020603050405020304" pitchFamily="18" charset="0"/>
              </a:rPr>
              <a:t> разложение (SVD)</a:t>
            </a:r>
            <a:endParaRPr lang="en-US" sz="4450" dirty="0">
              <a:latin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793790" y="2503408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200" dirty="0">
                <a:latin typeface="Times New Roman" panose="02020603050405020304" pitchFamily="18" charset="0"/>
                <a:ea typeface="Instrument Sans Medium" pitchFamily="34" charset="-122"/>
                <a:cs typeface="Times New Roman" panose="02020603050405020304" pitchFamily="18" charset="0"/>
              </a:rPr>
              <a:t>Любая прямоугольная матрица </a:t>
            </a:r>
            <a:r>
              <a:rPr lang="en-US" sz="2200" b="1" dirty="0">
                <a:latin typeface="Times New Roman" panose="02020603050405020304" pitchFamily="18" charset="0"/>
                <a:ea typeface="Instrument Sans Medium" pitchFamily="34" charset="-122"/>
                <a:cs typeface="Times New Roman" panose="02020603050405020304" pitchFamily="18" charset="0"/>
              </a:rPr>
              <a:t>M</a:t>
            </a:r>
            <a:r>
              <a:rPr lang="en-US" sz="2200" dirty="0">
                <a:latin typeface="Times New Roman" panose="02020603050405020304" pitchFamily="18" charset="0"/>
                <a:ea typeface="Instrument Sans Medium" pitchFamily="34" charset="-122"/>
                <a:cs typeface="Times New Roman" panose="02020603050405020304" pitchFamily="18" charset="0"/>
              </a:rPr>
              <a:t> размера </a:t>
            </a:r>
            <a:r>
              <a:rPr lang="en-US" sz="2200" dirty="0" err="1">
                <a:latin typeface="Times New Roman" panose="02020603050405020304" pitchFamily="18" charset="0"/>
                <a:ea typeface="Instrument Sans Medium" pitchFamily="34" charset="-122"/>
                <a:cs typeface="Times New Roman" panose="02020603050405020304" pitchFamily="18" charset="0"/>
              </a:rPr>
              <a:t>m×n</a:t>
            </a:r>
            <a:r>
              <a:rPr lang="en-US" sz="2200" dirty="0">
                <a:latin typeface="Times New Roman" panose="02020603050405020304" pitchFamily="18" charset="0"/>
                <a:ea typeface="Instrument Sans Medium" pitchFamily="34" charset="-122"/>
                <a:cs typeface="Times New Roman" panose="02020603050405020304" pitchFamily="18" charset="0"/>
              </a:rPr>
              <a:t> </a:t>
            </a:r>
            <a:r>
              <a:rPr lang="ru-RU" sz="2200" dirty="0">
                <a:latin typeface="Times New Roman" panose="02020603050405020304" pitchFamily="18" charset="0"/>
                <a:ea typeface="Instrument Sans Medium" pitchFamily="34" charset="-122"/>
                <a:cs typeface="Times New Roman" panose="02020603050405020304" pitchFamily="18" charset="0"/>
              </a:rPr>
              <a:t>может быть</a:t>
            </a:r>
            <a:r>
              <a:rPr lang="en-US" sz="2200" dirty="0">
                <a:latin typeface="Times New Roman" panose="02020603050405020304" pitchFamily="18" charset="0"/>
                <a:ea typeface="Instrument Sans Medium" pitchFamily="34" charset="-122"/>
                <a:cs typeface="Times New Roman" panose="02020603050405020304" pitchFamily="18" charset="0"/>
              </a:rPr>
              <a:t> </a:t>
            </a:r>
            <a:r>
              <a:rPr lang="ru-RU" sz="2200" dirty="0">
                <a:latin typeface="Times New Roman" panose="02020603050405020304" pitchFamily="18" charset="0"/>
                <a:ea typeface="Instrument Sans Medium" pitchFamily="34" charset="-122"/>
                <a:cs typeface="Times New Roman" panose="02020603050405020304" pitchFamily="18" charset="0"/>
              </a:rPr>
              <a:t>представлена </a:t>
            </a:r>
            <a:r>
              <a:rPr lang="en-US" sz="2200" dirty="0">
                <a:latin typeface="Times New Roman" panose="02020603050405020304" pitchFamily="18" charset="0"/>
                <a:ea typeface="Instrument Sans Medium" pitchFamily="34" charset="-122"/>
                <a:cs typeface="Times New Roman" panose="02020603050405020304" pitchFamily="18" charset="0"/>
              </a:rPr>
              <a:t>в виде:</a:t>
            </a:r>
            <a:endParaRPr lang="en-US" sz="2200" dirty="0">
              <a:latin typeface="Times New Roman" panose="02020603050405020304" pitchFamily="18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793790" y="3833693"/>
            <a:ext cx="13042821" cy="3054906"/>
          </a:xfrm>
          <a:prstGeom prst="roundRect">
            <a:avLst>
              <a:gd name="adj" fmla="val 6683"/>
            </a:avLst>
          </a:prstGeom>
          <a:noFill/>
          <a:ln w="7620">
            <a:solidFill>
              <a:srgbClr val="000000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ru-RU" dirty="0">
              <a:latin typeface="Times New Roman" panose="02020603050405020304" pitchFamily="18" charset="0"/>
            </a:endParaRPr>
          </a:p>
        </p:txBody>
      </p:sp>
      <p:sp>
        <p:nvSpPr>
          <p:cNvPr id="8" name="Text 5"/>
          <p:cNvSpPr/>
          <p:nvPr/>
        </p:nvSpPr>
        <p:spPr>
          <a:xfrm>
            <a:off x="1028343" y="3985022"/>
            <a:ext cx="1887498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b="1" dirty="0">
                <a:latin typeface="Times New Roman" panose="02020603050405020304" pitchFamily="18" charset="0"/>
                <a:ea typeface="Instrument Sans Medium" pitchFamily="34" charset="-122"/>
                <a:cs typeface="Times New Roman" panose="02020603050405020304" pitchFamily="18" charset="0"/>
              </a:rPr>
              <a:t>U (m×m)</a:t>
            </a:r>
            <a:endParaRPr lang="en-US" sz="1750" dirty="0">
              <a:latin typeface="Times New Roman" panose="02020603050405020304" pitchFamily="18" charset="0"/>
            </a:endParaRPr>
          </a:p>
        </p:txBody>
      </p:sp>
      <p:sp>
        <p:nvSpPr>
          <p:cNvPr id="9" name="Text 6"/>
          <p:cNvSpPr/>
          <p:nvPr/>
        </p:nvSpPr>
        <p:spPr>
          <a:xfrm>
            <a:off x="3377089" y="3985022"/>
            <a:ext cx="4880015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latin typeface="Times New Roman" panose="02020603050405020304" pitchFamily="18" charset="0"/>
                <a:ea typeface="Instrument Sans Medium" pitchFamily="34" charset="-122"/>
                <a:cs typeface="Times New Roman" panose="02020603050405020304" pitchFamily="18" charset="0"/>
              </a:rPr>
              <a:t>Ортогональная матрица</a:t>
            </a:r>
            <a:endParaRPr lang="en-US" sz="1750" dirty="0">
              <a:latin typeface="Times New Roman" panose="02020603050405020304" pitchFamily="18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8718352" y="3985022"/>
            <a:ext cx="488382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ru-RU" sz="1750" dirty="0">
                <a:latin typeface="Times New Roman" panose="02020603050405020304" pitchFamily="18" charset="0"/>
                <a:ea typeface="Instrument Sans Medium" pitchFamily="34" charset="-122"/>
                <a:cs typeface="Times New Roman" panose="02020603050405020304" pitchFamily="18" charset="0"/>
              </a:rPr>
              <a:t>Л</a:t>
            </a:r>
            <a:r>
              <a:rPr lang="en-US" sz="1750" dirty="0" err="1">
                <a:latin typeface="Times New Roman" panose="02020603050405020304" pitchFamily="18" charset="0"/>
                <a:ea typeface="Instrument Sans Medium" pitchFamily="34" charset="-122"/>
                <a:cs typeface="Times New Roman" panose="02020603050405020304" pitchFamily="18" charset="0"/>
              </a:rPr>
              <a:t>евые</a:t>
            </a:r>
            <a:r>
              <a:rPr lang="en-US" sz="1750" dirty="0">
                <a:latin typeface="Times New Roman" panose="02020603050405020304" pitchFamily="18" charset="0"/>
                <a:ea typeface="Instrument Sans Medium" pitchFamily="34" charset="-122"/>
                <a:cs typeface="Times New Roman" panose="02020603050405020304" pitchFamily="18" charset="0"/>
              </a:rPr>
              <a:t> сингулярные векторы (собственные векторы MMᵀ).</a:t>
            </a:r>
            <a:endParaRPr lang="en-US" sz="1750" dirty="0">
              <a:latin typeface="Times New Roman" panose="02020603050405020304" pitchFamily="18" charset="0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801410" y="4854535"/>
            <a:ext cx="13027581" cy="1013222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  <p:txBody>
          <a:bodyPr/>
          <a:lstStyle/>
          <a:p>
            <a:endParaRPr lang="ru-RU" dirty="0">
              <a:latin typeface="Times New Roman" panose="02020603050405020304" pitchFamily="18" charset="0"/>
            </a:endParaRPr>
          </a:p>
        </p:txBody>
      </p:sp>
      <p:sp>
        <p:nvSpPr>
          <p:cNvPr id="12" name="Text 9"/>
          <p:cNvSpPr/>
          <p:nvPr/>
        </p:nvSpPr>
        <p:spPr>
          <a:xfrm>
            <a:off x="1028343" y="4998244"/>
            <a:ext cx="1887498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b="1" dirty="0">
                <a:latin typeface="Times New Roman" panose="02020603050405020304" pitchFamily="18" charset="0"/>
                <a:ea typeface="Instrument Sans Medium" pitchFamily="34" charset="-122"/>
                <a:cs typeface="Times New Roman" panose="02020603050405020304" pitchFamily="18" charset="0"/>
              </a:rPr>
              <a:t>Σ (m×n)</a:t>
            </a:r>
            <a:endParaRPr lang="en-US" sz="1750" dirty="0">
              <a:latin typeface="Times New Roman" panose="02020603050405020304" pitchFamily="18" charset="0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3377089" y="4998244"/>
            <a:ext cx="4880015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latin typeface="Times New Roman" panose="02020603050405020304" pitchFamily="18" charset="0"/>
                <a:ea typeface="Instrument Sans Medium" pitchFamily="34" charset="-122"/>
                <a:cs typeface="Times New Roman" panose="02020603050405020304" pitchFamily="18" charset="0"/>
              </a:rPr>
              <a:t>Диагональная матрица</a:t>
            </a:r>
            <a:endParaRPr lang="en-US" sz="1750" dirty="0">
              <a:latin typeface="Times New Roman" panose="02020603050405020304" pitchFamily="18" charset="0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8718352" y="4998244"/>
            <a:ext cx="488382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ru-RU" sz="1750" dirty="0">
                <a:latin typeface="Times New Roman" panose="02020603050405020304" pitchFamily="18" charset="0"/>
                <a:ea typeface="Instrument Sans Medium" pitchFamily="34" charset="-122"/>
                <a:cs typeface="Times New Roman" panose="02020603050405020304" pitchFamily="18" charset="0"/>
              </a:rPr>
              <a:t>С</a:t>
            </a:r>
            <a:r>
              <a:rPr lang="en-US" sz="1750" dirty="0" err="1">
                <a:latin typeface="Times New Roman" panose="02020603050405020304" pitchFamily="18" charset="0"/>
                <a:ea typeface="Instrument Sans Medium" pitchFamily="34" charset="-122"/>
                <a:cs typeface="Times New Roman" panose="02020603050405020304" pitchFamily="18" charset="0"/>
              </a:rPr>
              <a:t>ингулярные</a:t>
            </a:r>
            <a:r>
              <a:rPr lang="en-US" sz="1750" dirty="0">
                <a:latin typeface="Times New Roman" panose="02020603050405020304" pitchFamily="18" charset="0"/>
                <a:ea typeface="Instrument Sans Medium" pitchFamily="34" charset="-122"/>
                <a:cs typeface="Times New Roman" panose="02020603050405020304" pitchFamily="18" charset="0"/>
              </a:rPr>
              <a:t> числа σ₁ ≥ σ₂ ≥ … ≥ 0.</a:t>
            </a:r>
            <a:endParaRPr lang="en-US" sz="1750" dirty="0">
              <a:latin typeface="Times New Roman" panose="02020603050405020304" pitchFamily="18" charset="0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801410" y="5867757"/>
            <a:ext cx="13027581" cy="1013222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ru-RU" dirty="0">
              <a:latin typeface="Times New Roman" panose="02020603050405020304" pitchFamily="18" charset="0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1028343" y="6011466"/>
            <a:ext cx="1887498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b="1" dirty="0">
                <a:latin typeface="Times New Roman" panose="02020603050405020304" pitchFamily="18" charset="0"/>
                <a:ea typeface="Instrument Sans Medium" pitchFamily="34" charset="-122"/>
                <a:cs typeface="Times New Roman" panose="02020603050405020304" pitchFamily="18" charset="0"/>
              </a:rPr>
              <a:t>V (n×n)</a:t>
            </a:r>
            <a:endParaRPr lang="en-US" sz="1750" dirty="0">
              <a:latin typeface="Times New Roman" panose="02020603050405020304" pitchFamily="18" charset="0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3377089" y="6011466"/>
            <a:ext cx="4880015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latin typeface="Times New Roman" panose="02020603050405020304" pitchFamily="18" charset="0"/>
                <a:ea typeface="Instrument Sans Medium" pitchFamily="34" charset="-122"/>
                <a:cs typeface="Times New Roman" panose="02020603050405020304" pitchFamily="18" charset="0"/>
              </a:rPr>
              <a:t>Ортогональная матрица</a:t>
            </a:r>
            <a:endParaRPr lang="en-US" sz="1750" dirty="0">
              <a:latin typeface="Times New Roman" panose="02020603050405020304" pitchFamily="18" charset="0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8718352" y="6011466"/>
            <a:ext cx="488382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ru-RU" sz="1750" dirty="0">
                <a:latin typeface="Times New Roman" panose="02020603050405020304" pitchFamily="18" charset="0"/>
                <a:ea typeface="Instrument Sans Medium" pitchFamily="34" charset="-122"/>
                <a:cs typeface="Times New Roman" panose="02020603050405020304" pitchFamily="18" charset="0"/>
              </a:rPr>
              <a:t>П</a:t>
            </a:r>
            <a:r>
              <a:rPr lang="en-US" sz="1750" dirty="0" err="1">
                <a:latin typeface="Times New Roman" panose="02020603050405020304" pitchFamily="18" charset="0"/>
                <a:ea typeface="Instrument Sans Medium" pitchFamily="34" charset="-122"/>
                <a:cs typeface="Times New Roman" panose="02020603050405020304" pitchFamily="18" charset="0"/>
              </a:rPr>
              <a:t>равые</a:t>
            </a:r>
            <a:r>
              <a:rPr lang="en-US" sz="1750" dirty="0">
                <a:latin typeface="Times New Roman" panose="02020603050405020304" pitchFamily="18" charset="0"/>
                <a:ea typeface="Instrument Sans Medium" pitchFamily="34" charset="-122"/>
                <a:cs typeface="Times New Roman" panose="02020603050405020304" pitchFamily="18" charset="0"/>
              </a:rPr>
              <a:t> сингулярные векторы (собственные векторы MᵀM).</a:t>
            </a:r>
            <a:endParaRPr lang="en-US" sz="1750" dirty="0">
              <a:latin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E4652BF-816C-2F78-243D-B737EBC9A123}"/>
                  </a:ext>
                </a:extLst>
              </p:cNvPr>
              <p:cNvSpPr txBox="1"/>
              <p:nvPr/>
            </p:nvSpPr>
            <p:spPr>
              <a:xfrm>
                <a:off x="3657600" y="3169561"/>
                <a:ext cx="7315200" cy="5539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3000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ru-RU" sz="3000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ru-RU" sz="3000" i="1">
                          <a:latin typeface="Cambria Math" panose="02040503050406030204" pitchFamily="18" charset="0"/>
                        </a:rPr>
                        <m:t>𝑈</m:t>
                      </m:r>
                      <m:r>
                        <m:rPr>
                          <m:sty m:val="p"/>
                        </m:rPr>
                        <a:rPr lang="ru-RU" sz="3000" i="0">
                          <a:latin typeface="Cambria Math" panose="02040503050406030204" pitchFamily="18" charset="0"/>
                        </a:rPr>
                        <m:t>Σ</m:t>
                      </m:r>
                      <m:sSup>
                        <m:sSupPr>
                          <m:ctrlPr>
                            <a:rPr lang="ru-RU" sz="3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ru-RU" sz="3000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p>
                          <m:r>
                            <a:rPr lang="ru-RU" sz="30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ru-RU" sz="3000" dirty="0">
                  <a:latin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E4652BF-816C-2F78-243D-B737EBC9A1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7600" y="3169561"/>
                <a:ext cx="7315200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6587" y="930003"/>
            <a:ext cx="4769048" cy="4080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200"/>
              </a:lnSpc>
              <a:buNone/>
            </a:pPr>
            <a:r>
              <a:rPr lang="en-US" sz="4500" dirty="0">
                <a:latin typeface="Times New Roman" panose="02020603050405020304" pitchFamily="18" charset="0"/>
                <a:ea typeface="Instrument Sans Semi Bold" pitchFamily="34" charset="-122"/>
                <a:cs typeface="Times New Roman" panose="02020603050405020304" pitchFamily="18" charset="0"/>
              </a:rPr>
              <a:t>Пример разложения матрицы</a:t>
            </a:r>
            <a:endParaRPr lang="en-US" sz="4500" dirty="0">
              <a:latin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3221080" y="1690788"/>
            <a:ext cx="9010174" cy="1645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50"/>
              </a:lnSpc>
              <a:buNone/>
            </a:pPr>
            <a:r>
              <a:rPr lang="en-US" sz="2200" dirty="0">
                <a:latin typeface="Times New Roman" panose="02020603050405020304" pitchFamily="18" charset="0"/>
                <a:ea typeface="Instrument Sans Medium" pitchFamily="34" charset="-122"/>
                <a:cs typeface="Times New Roman" panose="02020603050405020304" pitchFamily="18" charset="0"/>
              </a:rPr>
              <a:t>Рассмотрим матрицу </a:t>
            </a:r>
            <a:r>
              <a:rPr lang="en-US" sz="2200" b="1" dirty="0">
                <a:latin typeface="Times New Roman" panose="02020603050405020304" pitchFamily="18" charset="0"/>
                <a:ea typeface="Instrument Sans Medium" pitchFamily="34" charset="-122"/>
                <a:cs typeface="Times New Roman" panose="02020603050405020304" pitchFamily="18" charset="0"/>
              </a:rPr>
              <a:t>M</a:t>
            </a:r>
            <a:r>
              <a:rPr lang="en-US" sz="2200" dirty="0">
                <a:latin typeface="Times New Roman" panose="02020603050405020304" pitchFamily="18" charset="0"/>
                <a:ea typeface="Instrument Sans Medium" pitchFamily="34" charset="-122"/>
                <a:cs typeface="Times New Roman" panose="02020603050405020304" pitchFamily="18" charset="0"/>
              </a:rPr>
              <a:t> размера 4×5.</a:t>
            </a:r>
            <a:endParaRPr lang="en-US" sz="2200" dirty="0">
              <a:latin typeface="Times New Roman" panose="02020603050405020304" pitchFamily="18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4340963" y="1705468"/>
            <a:ext cx="9010174" cy="85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endParaRPr lang="en-US" sz="1150" dirty="0">
              <a:latin typeface="Times New Roman" panose="02020603050405020304" pitchFamily="18" charset="0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2810113" y="4330660"/>
            <a:ext cx="9010174" cy="85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endParaRPr lang="en-US" sz="1150" dirty="0">
              <a:latin typeface="Times New Roman" panose="02020603050405020304" pitchFamily="18" charset="0"/>
            </a:endParaRPr>
          </a:p>
        </p:txBody>
      </p:sp>
      <p:sp>
        <p:nvSpPr>
          <p:cNvPr id="27" name="Text 22"/>
          <p:cNvSpPr/>
          <p:nvPr/>
        </p:nvSpPr>
        <p:spPr>
          <a:xfrm>
            <a:off x="2796672" y="6253737"/>
            <a:ext cx="9010174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endParaRPr lang="en-US" sz="1150" dirty="0">
              <a:latin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0642E7F3-0D9E-1E5E-B1D4-F8F75969C0DB}"/>
                  </a:ext>
                </a:extLst>
              </p:cNvPr>
              <p:cNvSpPr txBox="1"/>
              <p:nvPr/>
            </p:nvSpPr>
            <p:spPr>
              <a:xfrm>
                <a:off x="3301111" y="1951034"/>
                <a:ext cx="7315200" cy="11269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ru-RU" i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5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ru-RU" dirty="0">
                  <a:latin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0642E7F3-0D9E-1E5E-B1D4-F8F75969C0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1111" y="1951034"/>
                <a:ext cx="7315200" cy="11269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1" name="Таблица 30">
                <a:extLst>
                  <a:ext uri="{FF2B5EF4-FFF2-40B4-BE49-F238E27FC236}">
                    <a16:creationId xmlns:a16="http://schemas.microsoft.com/office/drawing/2014/main" id="{958B244C-ADE7-B834-FA5C-6CD4FD933C4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62120611"/>
                  </p:ext>
                </p:extLst>
              </p:nvPr>
            </p:nvGraphicFramePr>
            <p:xfrm>
              <a:off x="916587" y="3139663"/>
              <a:ext cx="6221767" cy="4231138"/>
            </p:xfrm>
            <a:graphic>
              <a:graphicData uri="http://schemas.openxmlformats.org/drawingml/2006/table">
                <a:tbl>
                  <a:tblPr firstRow="1" firstCol="1" bandRow="1">
                    <a:tableStyleId>{BDBED569-4797-4DF1-A0F4-6AAB3CD982D8}</a:tableStyleId>
                  </a:tblPr>
                  <a:tblGrid>
                    <a:gridCol w="2035792">
                      <a:extLst>
                        <a:ext uri="{9D8B030D-6E8A-4147-A177-3AD203B41FA5}">
                          <a16:colId xmlns:a16="http://schemas.microsoft.com/office/drawing/2014/main" val="232740694"/>
                        </a:ext>
                      </a:extLst>
                    </a:gridCol>
                    <a:gridCol w="2422199">
                      <a:extLst>
                        <a:ext uri="{9D8B030D-6E8A-4147-A177-3AD203B41FA5}">
                          <a16:colId xmlns:a16="http://schemas.microsoft.com/office/drawing/2014/main" val="1226878063"/>
                        </a:ext>
                      </a:extLst>
                    </a:gridCol>
                    <a:gridCol w="1763776">
                      <a:extLst>
                        <a:ext uri="{9D8B030D-6E8A-4147-A177-3AD203B41FA5}">
                          <a16:colId xmlns:a16="http://schemas.microsoft.com/office/drawing/2014/main" val="3483412069"/>
                        </a:ext>
                      </a:extLst>
                    </a:gridCol>
                  </a:tblGrid>
                  <a:tr h="168226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ts val="1200"/>
                            </a:lnSpc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u-RU" sz="1500" dirty="0">
                              <a:effectLst/>
                              <a:latin typeface="Times New Roman" panose="02020603050405020304" pitchFamily="18" charset="0"/>
                            </a:rPr>
                            <a:t>Собственные значения </a:t>
                          </a:r>
                          <a:br>
                            <a:rPr lang="ru-RU" sz="1500" dirty="0">
                              <a:effectLst/>
                              <a:latin typeface="Times New Roman" panose="02020603050405020304" pitchFamily="18" charset="0"/>
                            </a:rPr>
                          </a:br>
                          <a:r>
                            <a:rPr lang="ru-RU" sz="1500" dirty="0">
                              <a:effectLst/>
                              <a:latin typeface="Times New Roman" panose="02020603050405020304" pitchFamily="18" charset="0"/>
                            </a:rPr>
                            <a:t>матрицы </a:t>
                          </a:r>
                          <a14:m>
                            <m:oMath xmlns:m="http://schemas.openxmlformats.org/officeDocument/2006/math">
                              <m:r>
                                <a:rPr lang="ru-RU" sz="1500">
                                  <a:effectLst/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  <m:sSup>
                                <m:sSupPr>
                                  <m:ctrlPr>
                                    <a:rPr lang="ru-RU" sz="1500" i="1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ru-RU" sz="1500">
                                      <a:effectLst/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</m:e>
                                <m:sup>
                                  <m:r>
                                    <a:rPr lang="ru-RU" sz="1500">
                                      <a:effectLst/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oMath>
                          </a14:m>
                          <a:endParaRPr lang="ru-RU" sz="1300" dirty="0">
                            <a:effectLst/>
                          </a:endParaRPr>
                        </a:p>
                        <a:p>
                          <a:pPr algn="ctr">
                            <a:lnSpc>
                              <a:spcPts val="1200"/>
                            </a:lnSpc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u-RU" sz="1500" dirty="0">
                              <a:effectLst/>
                            </a:rPr>
                            <a:t> </a:t>
                          </a:r>
                          <a:endParaRPr lang="ru-RU" sz="1300" dirty="0">
                            <a:effectLst/>
                            <a:latin typeface="Times New Roman" panose="020206030504050203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73925" marR="73925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ts val="1200"/>
                            </a:lnSpc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u-RU" sz="1500" dirty="0">
                              <a:effectLst/>
                              <a:latin typeface="Times New Roman" panose="02020603050405020304" pitchFamily="18" charset="0"/>
                            </a:rPr>
                            <a:t>Соответствующие нормированные собственные векторы (левые сингулярные векторы)</a:t>
                          </a:r>
                          <a:endParaRPr lang="ru-RU" sz="1300" dirty="0">
                            <a:effectLst/>
                            <a:latin typeface="Times New Roman" panose="020206030504050203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73925" marR="73925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ts val="1200"/>
                            </a:lnSpc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u-RU" sz="1500" dirty="0">
                              <a:effectLst/>
                              <a:latin typeface="Times New Roman" panose="02020603050405020304" pitchFamily="18" charset="0"/>
                            </a:rPr>
                            <a:t>Сингулярные числа</a:t>
                          </a:r>
                          <a:endParaRPr lang="ru-RU" sz="1300" dirty="0">
                            <a:effectLst/>
                          </a:endParaRPr>
                        </a:p>
                        <a:p>
                          <a:pPr algn="ctr">
                            <a:lnSpc>
                              <a:spcPts val="1200"/>
                            </a:lnSpc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u-RU" sz="1500" dirty="0">
                              <a:effectLst/>
                            </a:rPr>
                            <a:t> </a:t>
                          </a:r>
                          <a:endParaRPr lang="ru-RU" sz="1300" dirty="0">
                            <a:effectLst/>
                            <a:latin typeface="Times New Roman" panose="020206030504050203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73925" marR="73925" marT="0" marB="0" anchor="ctr"/>
                    </a:tc>
                    <a:extLst>
                      <a:ext uri="{0D108BD9-81ED-4DB2-BD59-A6C34878D82A}">
                        <a16:rowId xmlns:a16="http://schemas.microsoft.com/office/drawing/2014/main" val="73245237"/>
                      </a:ext>
                    </a:extLst>
                  </a:tr>
                  <a:tr h="627416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ts val="1200"/>
                            </a:lnSpc>
                            <a:spcAft>
                              <a:spcPts val="12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ru-RU" sz="15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15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ru-RU" sz="15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ru-RU" sz="1500">
                                    <a:effectLst/>
                                    <a:latin typeface="Cambria Math" panose="02040503050406030204" pitchFamily="18" charset="0"/>
                                  </a:rPr>
                                  <m:t>=16</m:t>
                                </m:r>
                              </m:oMath>
                            </m:oMathPara>
                          </a14:m>
                          <a:endParaRPr lang="ru-RU" sz="1300" dirty="0">
                            <a:effectLst/>
                            <a:latin typeface="Times New Roman" panose="020206030504050203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73925" marR="73925" marT="0" marB="0" anchor="ctr">
                        <a:solidFill>
                          <a:schemeClr val="bg1">
                            <a:alpha val="2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ts val="1200"/>
                            </a:lnSpc>
                            <a:spcAft>
                              <a:spcPts val="12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ru-RU" sz="15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15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b>
                                    <m:r>
                                      <a:rPr lang="ru-RU" sz="15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ru-RU" sz="1500">
                                    <a:effectLst/>
                                    <a:latin typeface="Cambria Math" panose="02040503050406030204" pitchFamily="18" charset="0"/>
                                  </a:rPr>
                                  <m:t>=(0,0,0,1</m:t>
                                </m:r>
                                <m:sSup>
                                  <m:sSupPr>
                                    <m:ctrlPr>
                                      <a:rPr lang="ru-RU" sz="15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ru-RU" sz="15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ru-RU" sz="15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ru-RU" sz="1300" dirty="0">
                            <a:effectLst/>
                            <a:latin typeface="Times New Roman" panose="020206030504050203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73925" marR="73925" marT="0" marB="0" anchor="ctr">
                        <a:solidFill>
                          <a:schemeClr val="bg1">
                            <a:alpha val="2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ts val="1200"/>
                            </a:lnSpc>
                            <a:spcAft>
                              <a:spcPts val="12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ru-RU" sz="15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15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ru-RU" sz="15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ru-RU" sz="1500">
                                    <a:effectLst/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ad>
                                  <m:radPr>
                                    <m:degHide m:val="on"/>
                                    <m:ctrlPr>
                                      <a:rPr lang="ru-RU" sz="15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ru-RU" sz="15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16</m:t>
                                    </m:r>
                                  </m:e>
                                </m:rad>
                                <m:r>
                                  <a:rPr lang="ru-RU" sz="1500">
                                    <a:effectLst/>
                                    <a:latin typeface="Cambria Math" panose="02040503050406030204" pitchFamily="18" charset="0"/>
                                  </a:rPr>
                                  <m:t>=4</m:t>
                                </m:r>
                              </m:oMath>
                            </m:oMathPara>
                          </a14:m>
                          <a:endParaRPr lang="ru-RU" sz="1300" dirty="0">
                            <a:effectLst/>
                            <a:latin typeface="Times New Roman" panose="020206030504050203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73925" marR="73925" marT="0" marB="0" anchor="ctr">
                        <a:solidFill>
                          <a:schemeClr val="bg1">
                            <a:alpha val="2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545396485"/>
                      </a:ext>
                    </a:extLst>
                  </a:tr>
                  <a:tr h="627416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ts val="1200"/>
                            </a:lnSpc>
                            <a:spcAft>
                              <a:spcPts val="12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ru-RU" sz="15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15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ru-RU" sz="15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ru-RU" sz="1500">
                                    <a:effectLst/>
                                    <a:latin typeface="Cambria Math" panose="02040503050406030204" pitchFamily="18" charset="0"/>
                                  </a:rPr>
                                  <m:t>=9</m:t>
                                </m:r>
                              </m:oMath>
                            </m:oMathPara>
                          </a14:m>
                          <a:endParaRPr lang="ru-RU" sz="1300" dirty="0">
                            <a:effectLst/>
                            <a:latin typeface="Times New Roman" panose="020206030504050203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73925" marR="73925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ts val="1200"/>
                            </a:lnSpc>
                            <a:spcAft>
                              <a:spcPts val="12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ru-RU" sz="15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15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b>
                                    <m:r>
                                      <a:rPr lang="ru-RU" sz="15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ru-RU" sz="1500">
                                    <a:effectLst/>
                                    <a:latin typeface="Cambria Math" panose="02040503050406030204" pitchFamily="18" charset="0"/>
                                  </a:rPr>
                                  <m:t>=(0,1,0,0</m:t>
                                </m:r>
                                <m:sSup>
                                  <m:sSupPr>
                                    <m:ctrlPr>
                                      <a:rPr lang="ru-RU" sz="15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ru-RU" sz="15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ru-RU" sz="15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ru-RU" sz="1300" dirty="0">
                            <a:effectLst/>
                            <a:latin typeface="Times New Roman" panose="020206030504050203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73925" marR="73925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ts val="1200"/>
                            </a:lnSpc>
                            <a:spcAft>
                              <a:spcPts val="12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ru-RU" sz="15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15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ru-RU" sz="15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ru-RU" sz="15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ru-RU" sz="1500">
                                    <a:effectLst/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ad>
                                  <m:radPr>
                                    <m:degHide m:val="on"/>
                                    <m:ctrlPr>
                                      <a:rPr lang="ru-RU" sz="15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ru-RU" sz="15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9</m:t>
                                    </m:r>
                                  </m:e>
                                </m:rad>
                                <m:r>
                                  <a:rPr lang="ru-RU" sz="1500">
                                    <a:effectLst/>
                                    <a:latin typeface="Cambria Math" panose="02040503050406030204" pitchFamily="18" charset="0"/>
                                  </a:rPr>
                                  <m:t>=3</m:t>
                                </m:r>
                              </m:oMath>
                            </m:oMathPara>
                          </a14:m>
                          <a:endParaRPr lang="ru-RU" sz="1300" dirty="0">
                            <a:effectLst/>
                            <a:latin typeface="Times New Roman" panose="020206030504050203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73925" marR="73925" marT="0" marB="0" anchor="ctr"/>
                    </a:tc>
                    <a:extLst>
                      <a:ext uri="{0D108BD9-81ED-4DB2-BD59-A6C34878D82A}">
                        <a16:rowId xmlns:a16="http://schemas.microsoft.com/office/drawing/2014/main" val="233200229"/>
                      </a:ext>
                    </a:extLst>
                  </a:tr>
                  <a:tr h="627416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ts val="1200"/>
                            </a:lnSpc>
                            <a:spcAft>
                              <a:spcPts val="12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ru-RU" sz="15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15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ru-RU" sz="15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  <m:r>
                                  <a:rPr lang="ru-RU" sz="1500">
                                    <a:effectLst/>
                                    <a:latin typeface="Cambria Math" panose="02040503050406030204" pitchFamily="18" charset="0"/>
                                  </a:rPr>
                                  <m:t>=5</m:t>
                                </m:r>
                              </m:oMath>
                            </m:oMathPara>
                          </a14:m>
                          <a:endParaRPr lang="ru-RU" sz="1300" dirty="0">
                            <a:effectLst/>
                            <a:latin typeface="Times New Roman" panose="020206030504050203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73925" marR="73925" marT="0" marB="0" anchor="ctr">
                        <a:solidFill>
                          <a:schemeClr val="bg1">
                            <a:alpha val="2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ts val="1200"/>
                            </a:lnSpc>
                            <a:spcAft>
                              <a:spcPts val="12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ru-RU" sz="15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15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b>
                                    <m:r>
                                      <a:rPr lang="ru-RU" sz="15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  <m:r>
                                  <a:rPr lang="ru-RU" sz="1500">
                                    <a:effectLst/>
                                    <a:latin typeface="Cambria Math" panose="02040503050406030204" pitchFamily="18" charset="0"/>
                                  </a:rPr>
                                  <m:t>=(1,0,0,0</m:t>
                                </m:r>
                                <m:sSup>
                                  <m:sSupPr>
                                    <m:ctrlPr>
                                      <a:rPr lang="ru-RU" sz="15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ru-RU" sz="15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ru-RU" sz="15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ru-RU" sz="1300" dirty="0">
                            <a:effectLst/>
                            <a:latin typeface="Times New Roman" panose="020206030504050203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73925" marR="73925" marT="0" marB="0" anchor="ctr">
                        <a:solidFill>
                          <a:schemeClr val="bg1">
                            <a:alpha val="2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ts val="1200"/>
                            </a:lnSpc>
                            <a:spcAft>
                              <a:spcPts val="12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ru-RU" sz="15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15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ru-RU" sz="15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  <m:r>
                                  <a:rPr lang="ru-RU" sz="1500">
                                    <a:effectLst/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ad>
                                  <m:radPr>
                                    <m:degHide m:val="on"/>
                                    <m:ctrlPr>
                                      <a:rPr lang="ru-RU" sz="15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ru-RU" sz="15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e>
                                </m:rad>
                              </m:oMath>
                            </m:oMathPara>
                          </a14:m>
                          <a:endParaRPr lang="ru-RU" sz="1300" dirty="0">
                            <a:effectLst/>
                            <a:latin typeface="Times New Roman" panose="020206030504050203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73925" marR="73925" marT="0" marB="0" anchor="ctr">
                        <a:solidFill>
                          <a:schemeClr val="bg1">
                            <a:alpha val="2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4237955"/>
                      </a:ext>
                    </a:extLst>
                  </a:tr>
                  <a:tr h="66663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ts val="1200"/>
                            </a:lnSpc>
                            <a:spcAft>
                              <a:spcPts val="1200"/>
                            </a:spcAft>
                            <a:buNone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ru-RU" sz="1500" i="1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1500">
                                      <a:effectLst/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ru-RU" sz="1500">
                                      <a:effectLst/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  <m:r>
                                <a:rPr lang="ru-RU" sz="1500">
                                  <a:effectLst/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oMath>
                          </a14:m>
                          <a:r>
                            <a:rPr lang="ru-RU" sz="1500" dirty="0">
                              <a:effectLst/>
                            </a:rPr>
                            <a:t> </a:t>
                          </a:r>
                          <a:endParaRPr lang="ru-RU" sz="1300" dirty="0">
                            <a:effectLst/>
                            <a:latin typeface="Times New Roman" panose="020206030504050203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73925" marR="73925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ts val="1200"/>
                            </a:lnSpc>
                            <a:spcAft>
                              <a:spcPts val="1200"/>
                            </a:spcAft>
                            <a:buNone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ru-RU" sz="1500" i="1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1500">
                                      <a:effectLst/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ru-RU" sz="1500">
                                      <a:effectLst/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  <m:r>
                                <a:rPr lang="ru-RU" sz="1500">
                                  <a:effectLst/>
                                  <a:latin typeface="Cambria Math" panose="02040503050406030204" pitchFamily="18" charset="0"/>
                                </a:rPr>
                                <m:t>=(0,0,1,0</m:t>
                              </m:r>
                              <m:sSup>
                                <m:sSupPr>
                                  <m:ctrlPr>
                                    <a:rPr lang="ru-RU" sz="1500" i="1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ru-RU" sz="1500">
                                      <a:effectLst/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ru-RU" sz="1500">
                                      <a:effectLst/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oMath>
                          </a14:m>
                          <a:r>
                            <a:rPr lang="ru-RU" sz="1500" dirty="0">
                              <a:effectLst/>
                            </a:rPr>
                            <a:t> </a:t>
                          </a:r>
                          <a:endParaRPr lang="ru-RU" sz="1300" dirty="0">
                            <a:effectLst/>
                            <a:latin typeface="Times New Roman" panose="020206030504050203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73925" marR="73925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ts val="1200"/>
                            </a:lnSpc>
                            <a:spcAft>
                              <a:spcPts val="1200"/>
                            </a:spcAft>
                            <a:buNone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ru-RU" sz="1500" i="1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1500">
                                      <a:effectLst/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ru-RU" sz="1500">
                                      <a:effectLst/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  <m:r>
                                <a:rPr lang="ru-RU" sz="1500">
                                  <a:effectLst/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oMath>
                          </a14:m>
                          <a:r>
                            <a:rPr lang="ru-RU" sz="1500" dirty="0">
                              <a:effectLst/>
                            </a:rPr>
                            <a:t> </a:t>
                          </a:r>
                          <a:endParaRPr lang="ru-RU" sz="1300" dirty="0">
                            <a:effectLst/>
                            <a:latin typeface="Times New Roman" panose="020206030504050203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73925" marR="73925" marT="0" marB="0" anchor="ctr"/>
                    </a:tc>
                    <a:extLst>
                      <a:ext uri="{0D108BD9-81ED-4DB2-BD59-A6C34878D82A}">
                        <a16:rowId xmlns:a16="http://schemas.microsoft.com/office/drawing/2014/main" val="167171039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1" name="Таблица 30">
                <a:extLst>
                  <a:ext uri="{FF2B5EF4-FFF2-40B4-BE49-F238E27FC236}">
                    <a16:creationId xmlns:a16="http://schemas.microsoft.com/office/drawing/2014/main" id="{958B244C-ADE7-B834-FA5C-6CD4FD933C4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62120611"/>
                  </p:ext>
                </p:extLst>
              </p:nvPr>
            </p:nvGraphicFramePr>
            <p:xfrm>
              <a:off x="916587" y="3139663"/>
              <a:ext cx="6221767" cy="4231138"/>
            </p:xfrm>
            <a:graphic>
              <a:graphicData uri="http://schemas.openxmlformats.org/drawingml/2006/table">
                <a:tbl>
                  <a:tblPr firstRow="1" firstCol="1" bandRow="1">
                    <a:tableStyleId>{BDBED569-4797-4DF1-A0F4-6AAB3CD982D8}</a:tableStyleId>
                  </a:tblPr>
                  <a:tblGrid>
                    <a:gridCol w="2035792">
                      <a:extLst>
                        <a:ext uri="{9D8B030D-6E8A-4147-A177-3AD203B41FA5}">
                          <a16:colId xmlns:a16="http://schemas.microsoft.com/office/drawing/2014/main" val="232740694"/>
                        </a:ext>
                      </a:extLst>
                    </a:gridCol>
                    <a:gridCol w="2422199">
                      <a:extLst>
                        <a:ext uri="{9D8B030D-6E8A-4147-A177-3AD203B41FA5}">
                          <a16:colId xmlns:a16="http://schemas.microsoft.com/office/drawing/2014/main" val="1226878063"/>
                        </a:ext>
                      </a:extLst>
                    </a:gridCol>
                    <a:gridCol w="1763776">
                      <a:extLst>
                        <a:ext uri="{9D8B030D-6E8A-4147-A177-3AD203B41FA5}">
                          <a16:colId xmlns:a16="http://schemas.microsoft.com/office/drawing/2014/main" val="3483412069"/>
                        </a:ext>
                      </a:extLst>
                    </a:gridCol>
                  </a:tblGrid>
                  <a:tr h="1682260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73925" marR="73925" marT="0" marB="0" anchor="ctr">
                        <a:blipFill>
                          <a:blip r:embed="rId4"/>
                          <a:stretch>
                            <a:fillRect l="-299" t="-725" r="-206886" b="-15253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ts val="1200"/>
                            </a:lnSpc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u-RU" sz="1500" dirty="0">
                              <a:effectLst/>
                              <a:latin typeface="Times New Roman" panose="02020603050405020304" pitchFamily="18" charset="0"/>
                            </a:rPr>
                            <a:t>Соответствующие нормированные собственные векторы (левые сингулярные векторы)</a:t>
                          </a:r>
                          <a:endParaRPr lang="ru-RU" sz="1300" dirty="0">
                            <a:effectLst/>
                            <a:latin typeface="Times New Roman" panose="020206030504050203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73925" marR="73925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ts val="1200"/>
                            </a:lnSpc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u-RU" sz="1500" dirty="0">
                              <a:effectLst/>
                              <a:latin typeface="Times New Roman" panose="02020603050405020304" pitchFamily="18" charset="0"/>
                            </a:rPr>
                            <a:t>Сингулярные числа</a:t>
                          </a:r>
                          <a:endParaRPr lang="ru-RU" sz="1300" dirty="0">
                            <a:effectLst/>
                          </a:endParaRPr>
                        </a:p>
                        <a:p>
                          <a:pPr algn="ctr">
                            <a:lnSpc>
                              <a:spcPts val="1200"/>
                            </a:lnSpc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u-RU" sz="1500" dirty="0">
                              <a:effectLst/>
                            </a:rPr>
                            <a:t> </a:t>
                          </a:r>
                          <a:endParaRPr lang="ru-RU" sz="1300" dirty="0">
                            <a:effectLst/>
                            <a:latin typeface="Times New Roman" panose="020206030504050203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73925" marR="73925" marT="0" marB="0" anchor="ctr"/>
                    </a:tc>
                    <a:extLst>
                      <a:ext uri="{0D108BD9-81ED-4DB2-BD59-A6C34878D82A}">
                        <a16:rowId xmlns:a16="http://schemas.microsoft.com/office/drawing/2014/main" val="73245237"/>
                      </a:ext>
                    </a:extLst>
                  </a:tr>
                  <a:tr h="627416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73925" marR="73925" marT="0" marB="0" anchor="ctr">
                        <a:blipFill>
                          <a:blip r:embed="rId4"/>
                          <a:stretch>
                            <a:fillRect l="-299" t="-269903" r="-206886" b="-30873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73925" marR="73925" marT="0" marB="0" anchor="ctr">
                        <a:blipFill>
                          <a:blip r:embed="rId4"/>
                          <a:stretch>
                            <a:fillRect l="-84171" t="-269903" r="-73618" b="-30873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73925" marR="73925" marT="0" marB="0" anchor="ctr">
                        <a:blipFill>
                          <a:blip r:embed="rId4"/>
                          <a:stretch>
                            <a:fillRect l="-253633" t="-269903" r="-1384" b="-30873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545396485"/>
                      </a:ext>
                    </a:extLst>
                  </a:tr>
                  <a:tr h="627416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73925" marR="73925" marT="0" marB="0" anchor="ctr">
                        <a:blipFill>
                          <a:blip r:embed="rId4"/>
                          <a:stretch>
                            <a:fillRect l="-299" t="-369903" r="-206886" b="-20873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73925" marR="73925" marT="0" marB="0" anchor="ctr">
                        <a:blipFill>
                          <a:blip r:embed="rId4"/>
                          <a:stretch>
                            <a:fillRect l="-84171" t="-369903" r="-73618" b="-20873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73925" marR="73925" marT="0" marB="0" anchor="ctr">
                        <a:blipFill>
                          <a:blip r:embed="rId4"/>
                          <a:stretch>
                            <a:fillRect l="-253633" t="-369903" r="-1384" b="-20873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3200229"/>
                      </a:ext>
                    </a:extLst>
                  </a:tr>
                  <a:tr h="627416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73925" marR="73925" marT="0" marB="0" anchor="ctr">
                        <a:blipFill>
                          <a:blip r:embed="rId4"/>
                          <a:stretch>
                            <a:fillRect l="-299" t="-465385" r="-206886" b="-10673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73925" marR="73925" marT="0" marB="0" anchor="ctr">
                        <a:blipFill>
                          <a:blip r:embed="rId4"/>
                          <a:stretch>
                            <a:fillRect l="-84171" t="-465385" r="-73618" b="-10673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73925" marR="73925" marT="0" marB="0" anchor="ctr">
                        <a:blipFill>
                          <a:blip r:embed="rId4"/>
                          <a:stretch>
                            <a:fillRect l="-253633" t="-465385" r="-1384" b="-10673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4237955"/>
                      </a:ext>
                    </a:extLst>
                  </a:tr>
                  <a:tr h="666630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73925" marR="73925" marT="0" marB="0" anchor="ctr">
                        <a:blipFill>
                          <a:blip r:embed="rId4"/>
                          <a:stretch>
                            <a:fillRect l="-299" t="-539450" r="-206886" b="-18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73925" marR="73925" marT="0" marB="0" anchor="ctr">
                        <a:blipFill>
                          <a:blip r:embed="rId4"/>
                          <a:stretch>
                            <a:fillRect l="-84171" t="-539450" r="-73618" b="-18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73925" marR="73925" marT="0" marB="0" anchor="ctr">
                        <a:blipFill>
                          <a:blip r:embed="rId4"/>
                          <a:stretch>
                            <a:fillRect l="-253633" t="-539450" r="-1384" b="-183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71710390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2" name="Таблица 31">
                <a:extLst>
                  <a:ext uri="{FF2B5EF4-FFF2-40B4-BE49-F238E27FC236}">
                    <a16:creationId xmlns:a16="http://schemas.microsoft.com/office/drawing/2014/main" id="{DFF35996-60E8-2117-196F-8474C56EC16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14958069"/>
                  </p:ext>
                </p:extLst>
              </p:nvPr>
            </p:nvGraphicFramePr>
            <p:xfrm>
              <a:off x="7726167" y="3154168"/>
              <a:ext cx="6339153" cy="4231139"/>
            </p:xfrm>
            <a:graphic>
              <a:graphicData uri="http://schemas.openxmlformats.org/drawingml/2006/table">
                <a:tbl>
                  <a:tblPr firstRow="1" firstCol="1" lastRow="1" lastCol="1" bandRow="1" bandCol="1">
                    <a:tableStyleId>{22838BEF-8BB2-4498-84A7-C5851F593DF1}</a:tableStyleId>
                  </a:tblPr>
                  <a:tblGrid>
                    <a:gridCol w="2074201">
                      <a:extLst>
                        <a:ext uri="{9D8B030D-6E8A-4147-A177-3AD203B41FA5}">
                          <a16:colId xmlns:a16="http://schemas.microsoft.com/office/drawing/2014/main" val="2154843865"/>
                        </a:ext>
                      </a:extLst>
                    </a:gridCol>
                    <a:gridCol w="2467899">
                      <a:extLst>
                        <a:ext uri="{9D8B030D-6E8A-4147-A177-3AD203B41FA5}">
                          <a16:colId xmlns:a16="http://schemas.microsoft.com/office/drawing/2014/main" val="3932181000"/>
                        </a:ext>
                      </a:extLst>
                    </a:gridCol>
                    <a:gridCol w="1797053">
                      <a:extLst>
                        <a:ext uri="{9D8B030D-6E8A-4147-A177-3AD203B41FA5}">
                          <a16:colId xmlns:a16="http://schemas.microsoft.com/office/drawing/2014/main" val="689660649"/>
                        </a:ext>
                      </a:extLst>
                    </a:gridCol>
                  </a:tblGrid>
                  <a:tr h="1495198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ts val="1200"/>
                            </a:lnSpc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u-RU" sz="1400" dirty="0">
                              <a:effectLst/>
                              <a:latin typeface="Times New Roman" panose="02020603050405020304" pitchFamily="18" charset="0"/>
                            </a:rPr>
                            <a:t>Собственные значения </a:t>
                          </a:r>
                          <a:br>
                            <a:rPr lang="ru-RU" sz="1400" dirty="0">
                              <a:effectLst/>
                              <a:latin typeface="Times New Roman" panose="02020603050405020304" pitchFamily="18" charset="0"/>
                            </a:rPr>
                          </a:br>
                          <a:r>
                            <a:rPr lang="ru-RU" sz="1400" dirty="0">
                              <a:effectLst/>
                              <a:latin typeface="Times New Roman" panose="02020603050405020304" pitchFamily="18" charset="0"/>
                            </a:rPr>
                            <a:t>матрицы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ru-RU" sz="1400" i="1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ru-RU" sz="1400">
                                      <a:effectLst/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</m:e>
                                <m:sup>
                                  <m:r>
                                    <a:rPr lang="ru-RU" sz="1400">
                                      <a:effectLst/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ru-RU" sz="1400">
                                  <a:effectLst/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oMath>
                          </a14:m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ts val="1200"/>
                            </a:lnSpc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u-RU" sz="1400" dirty="0">
                              <a:effectLst/>
                              <a:latin typeface="Times New Roman" panose="02020603050405020304" pitchFamily="18" charset="0"/>
                            </a:rPr>
                            <a:t>Соответствующие нормированные собственные векторы (правые сингулярные векторы)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ts val="1200"/>
                            </a:lnSpc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u-RU" sz="1400" dirty="0">
                              <a:effectLst/>
                              <a:latin typeface="Times New Roman" panose="02020603050405020304" pitchFamily="18" charset="0"/>
                            </a:rPr>
                            <a:t>Сингулярные числа</a:t>
                          </a:r>
                          <a:endParaRPr lang="ru-RU" sz="1200" dirty="0">
                            <a:effectLst/>
                          </a:endParaRPr>
                        </a:p>
                        <a:p>
                          <a:pPr algn="ctr">
                            <a:lnSpc>
                              <a:spcPts val="1200"/>
                            </a:lnSpc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u-RU" sz="1400" dirty="0">
                              <a:effectLst/>
                            </a:rPr>
                            <a:t> 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6021544"/>
                      </a:ext>
                    </a:extLst>
                  </a:tr>
                  <a:tr h="557651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ts val="1200"/>
                            </a:lnSpc>
                            <a:spcAft>
                              <a:spcPts val="12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ru-RU" sz="14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1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ru-RU" sz="1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ru-RU" sz="1400">
                                    <a:effectLst/>
                                    <a:latin typeface="Cambria Math" panose="02040503050406030204" pitchFamily="18" charset="0"/>
                                  </a:rPr>
                                  <m:t>=16</m:t>
                                </m:r>
                              </m:oMath>
                            </m:oMathPara>
                          </a14:m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ts val="1200"/>
                            </a:lnSpc>
                            <a:spcAft>
                              <a:spcPts val="12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ru-RU" sz="14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1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ru-RU" sz="1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ru-RU" sz="1400">
                                    <a:effectLst/>
                                    <a:latin typeface="Cambria Math" panose="02040503050406030204" pitchFamily="18" charset="0"/>
                                  </a:rPr>
                                  <m:t>=(0,1,0,0,0</m:t>
                                </m:r>
                                <m:sSup>
                                  <m:sSupPr>
                                    <m:ctrlPr>
                                      <a:rPr lang="ru-RU" sz="14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ru-RU" sz="1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ru-RU" sz="1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ts val="1200"/>
                            </a:lnSpc>
                            <a:spcAft>
                              <a:spcPts val="12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ru-RU" sz="14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1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ru-RU" sz="1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ru-RU" sz="1400">
                                    <a:effectLst/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ad>
                                  <m:radPr>
                                    <m:degHide m:val="on"/>
                                    <m:ctrlPr>
                                      <a:rPr lang="ru-RU" sz="14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ru-RU" sz="1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16</m:t>
                                    </m:r>
                                  </m:e>
                                </m:rad>
                                <m:r>
                                  <a:rPr lang="ru-RU" sz="1400">
                                    <a:effectLst/>
                                    <a:latin typeface="Cambria Math" panose="02040503050406030204" pitchFamily="18" charset="0"/>
                                  </a:rPr>
                                  <m:t>=4</m:t>
                                </m:r>
                              </m:oMath>
                            </m:oMathPara>
                          </a14:m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6338207"/>
                      </a:ext>
                    </a:extLst>
                  </a:tr>
                  <a:tr h="43563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ts val="1200"/>
                            </a:lnSpc>
                            <a:spcAft>
                              <a:spcPts val="12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ru-RU" sz="14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1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ru-RU" sz="1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ru-RU" sz="1400">
                                    <a:effectLst/>
                                    <a:latin typeface="Cambria Math" panose="02040503050406030204" pitchFamily="18" charset="0"/>
                                  </a:rPr>
                                  <m:t>=9</m:t>
                                </m:r>
                              </m:oMath>
                            </m:oMathPara>
                          </a14:m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ts val="1200"/>
                            </a:lnSpc>
                            <a:spcAft>
                              <a:spcPts val="12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ru-RU" sz="14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1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ru-RU" sz="1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ru-RU" sz="1400">
                                    <a:effectLst/>
                                    <a:latin typeface="Cambria Math" panose="02040503050406030204" pitchFamily="18" charset="0"/>
                                  </a:rPr>
                                  <m:t>=(0,0,1,0,0</m:t>
                                </m:r>
                                <m:sSup>
                                  <m:sSupPr>
                                    <m:ctrlPr>
                                      <a:rPr lang="ru-RU" sz="14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ru-RU" sz="1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ru-RU" sz="1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ts val="1200"/>
                            </a:lnSpc>
                            <a:spcAft>
                              <a:spcPts val="12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ru-RU" sz="14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1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ru-RU" sz="1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ru-RU" sz="1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ru-RU" sz="1400">
                                    <a:effectLst/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ad>
                                  <m:radPr>
                                    <m:degHide m:val="on"/>
                                    <m:ctrlPr>
                                      <a:rPr lang="ru-RU" sz="14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ru-RU" sz="1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9</m:t>
                                    </m:r>
                                  </m:e>
                                </m:rad>
                                <m:r>
                                  <a:rPr lang="ru-RU" sz="1400">
                                    <a:effectLst/>
                                    <a:latin typeface="Cambria Math" panose="02040503050406030204" pitchFamily="18" charset="0"/>
                                  </a:rPr>
                                  <m:t>=3</m:t>
                                </m:r>
                              </m:oMath>
                            </m:oMathPara>
                          </a14:m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08605105"/>
                      </a:ext>
                    </a:extLst>
                  </a:tr>
                  <a:tr h="557651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ts val="1200"/>
                            </a:lnSpc>
                            <a:spcAft>
                              <a:spcPts val="12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ru-RU" sz="14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1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ru-RU" sz="1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  <m:r>
                                  <a:rPr lang="ru-RU" sz="1400">
                                    <a:effectLst/>
                                    <a:latin typeface="Cambria Math" panose="02040503050406030204" pitchFamily="18" charset="0"/>
                                  </a:rPr>
                                  <m:t>=5</m:t>
                                </m:r>
                              </m:oMath>
                            </m:oMathPara>
                          </a14:m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ts val="1200"/>
                            </a:lnSpc>
                            <a:spcAft>
                              <a:spcPts val="12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ru-RU" sz="14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1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ru-RU" sz="1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  <m:r>
                                  <a:rPr lang="ru-RU" sz="1400">
                                    <a:effectLst/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p>
                                  <m:sSupPr>
                                    <m:ctrlPr>
                                      <a:rPr lang="ru-RU" sz="14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ru-RU" sz="1400" i="1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400" b="0" i="0" smtClean="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  <m:r>
                                          <a:rPr lang="ru-RU" sz="14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,0,0,0,</m:t>
                                        </m:r>
                                        <m:r>
                                          <a:rPr lang="en-US" sz="1400" b="0" i="1" smtClean="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  <m:r>
                                          <a:rPr lang="ru-RU" sz="1400" i="1" smtClean="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ru-RU" sz="1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en-US" sz="1400" b="0" i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rad>
                                  <m:radPr>
                                    <m:degHide m:val="on"/>
                                    <m:ctrlPr>
                                      <a:rPr lang="ru-RU" sz="1200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ru-RU" sz="12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e>
                                </m:rad>
                              </m:oMath>
                            </m:oMathPara>
                          </a14:m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ts val="1200"/>
                            </a:lnSpc>
                            <a:spcAft>
                              <a:spcPts val="12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ru-RU" sz="14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1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ru-RU" sz="1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  <m:r>
                                  <a:rPr lang="ru-RU" sz="1400">
                                    <a:effectLst/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ad>
                                  <m:radPr>
                                    <m:degHide m:val="on"/>
                                    <m:ctrlPr>
                                      <a:rPr lang="ru-RU" sz="14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ru-RU" sz="1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e>
                                </m:rad>
                              </m:oMath>
                            </m:oMathPara>
                          </a14:m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17668745"/>
                      </a:ext>
                    </a:extLst>
                  </a:tr>
                  <a:tr h="592502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ts val="1200"/>
                            </a:lnSpc>
                            <a:spcAft>
                              <a:spcPts val="1200"/>
                            </a:spcAft>
                            <a:buNone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ru-RU" sz="1400" i="1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1400">
                                      <a:effectLst/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ru-RU" sz="1400">
                                      <a:effectLst/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  <m:r>
                                <a:rPr lang="ru-RU" sz="1400">
                                  <a:effectLst/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oMath>
                          </a14:m>
                          <a:r>
                            <a:rPr lang="ru-RU" sz="1400" dirty="0">
                              <a:effectLst/>
                            </a:rPr>
                            <a:t> 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ts val="1200"/>
                            </a:lnSpc>
                            <a:spcAft>
                              <a:spcPts val="12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ru-RU" sz="14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1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ru-RU" sz="1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sub>
                                </m:sSub>
                                <m:r>
                                  <a:rPr lang="ru-RU" sz="1400">
                                    <a:effectLst/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p>
                                  <m:sSupPr>
                                    <m:ctrlPr>
                                      <a:rPr lang="ru-RU" sz="14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ru-RU" sz="1400" i="1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ru-RU" sz="14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en-US" sz="1400" b="0" i="0" smtClean="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  <m:r>
                                          <a:rPr lang="ru-RU" sz="14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,0,0,0,</m:t>
                                        </m:r>
                                        <m:r>
                                          <a:rPr lang="en-US" sz="1400" b="0" i="1" smtClean="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  <m:r>
                                          <a:rPr lang="ru-RU" sz="1400" i="1" smtClean="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ru-RU" sz="1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en-US" sz="1400" b="0" i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rad>
                                  <m:radPr>
                                    <m:degHide m:val="on"/>
                                    <m:ctrlPr>
                                      <a:rPr lang="ru-RU" sz="1200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ru-RU" sz="12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e>
                                </m:rad>
                              </m:oMath>
                            </m:oMathPara>
                          </a14:m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ts val="1200"/>
                            </a:lnSpc>
                            <a:spcAft>
                              <a:spcPts val="1200"/>
                            </a:spcAft>
                            <a:buNone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ru-RU" sz="1400" i="1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1400">
                                      <a:effectLst/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ru-RU" sz="1400">
                                      <a:effectLst/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  <m:r>
                                <a:rPr lang="ru-RU" sz="1400">
                                  <a:effectLst/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oMath>
                          </a14:m>
                          <a:r>
                            <a:rPr lang="ru-RU" sz="1400" dirty="0">
                              <a:effectLst/>
                            </a:rPr>
                            <a:t> 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38594703"/>
                      </a:ext>
                    </a:extLst>
                  </a:tr>
                  <a:tr h="592502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ts val="1200"/>
                            </a:lnSpc>
                            <a:spcAft>
                              <a:spcPts val="12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ru-RU" sz="14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1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ru-RU" sz="1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sub>
                                </m:sSub>
                                <m:r>
                                  <a:rPr lang="ru-RU" sz="1400">
                                    <a:effectLst/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oMath>
                            </m:oMathPara>
                          </a14:m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ts val="1200"/>
                            </a:lnSpc>
                            <a:spcAft>
                              <a:spcPts val="12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ru-RU" sz="14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1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ru-RU" sz="1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sub>
                                </m:sSub>
                                <m:r>
                                  <a:rPr lang="ru-RU" sz="1400">
                                    <a:effectLst/>
                                    <a:latin typeface="Cambria Math" panose="02040503050406030204" pitchFamily="18" charset="0"/>
                                  </a:rPr>
                                  <m:t>=(0,0,0,1,0</m:t>
                                </m:r>
                                <m:sSup>
                                  <m:sSupPr>
                                    <m:ctrlPr>
                                      <a:rPr lang="ru-RU" sz="14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ru-RU" sz="1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ru-RU" sz="1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ts val="1200"/>
                            </a:lnSpc>
                            <a:spcAft>
                              <a:spcPts val="12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ru-RU" sz="14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1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ru-RU" sz="1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sub>
                                </m:sSub>
                                <m:r>
                                  <a:rPr lang="ru-RU" sz="1400">
                                    <a:effectLst/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oMath>
                            </m:oMathPara>
                          </a14:m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6337239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2" name="Таблица 31">
                <a:extLst>
                  <a:ext uri="{FF2B5EF4-FFF2-40B4-BE49-F238E27FC236}">
                    <a16:creationId xmlns:a16="http://schemas.microsoft.com/office/drawing/2014/main" id="{DFF35996-60E8-2117-196F-8474C56EC16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14958069"/>
                  </p:ext>
                </p:extLst>
              </p:nvPr>
            </p:nvGraphicFramePr>
            <p:xfrm>
              <a:off x="7726167" y="3154168"/>
              <a:ext cx="6339153" cy="4231139"/>
            </p:xfrm>
            <a:graphic>
              <a:graphicData uri="http://schemas.openxmlformats.org/drawingml/2006/table">
                <a:tbl>
                  <a:tblPr firstRow="1" firstCol="1" lastRow="1" lastCol="1" bandRow="1" bandCol="1">
                    <a:tableStyleId>{22838BEF-8BB2-4498-84A7-C5851F593DF1}</a:tableStyleId>
                  </a:tblPr>
                  <a:tblGrid>
                    <a:gridCol w="2074201">
                      <a:extLst>
                        <a:ext uri="{9D8B030D-6E8A-4147-A177-3AD203B41FA5}">
                          <a16:colId xmlns:a16="http://schemas.microsoft.com/office/drawing/2014/main" val="2154843865"/>
                        </a:ext>
                      </a:extLst>
                    </a:gridCol>
                    <a:gridCol w="2467899">
                      <a:extLst>
                        <a:ext uri="{9D8B030D-6E8A-4147-A177-3AD203B41FA5}">
                          <a16:colId xmlns:a16="http://schemas.microsoft.com/office/drawing/2014/main" val="3932181000"/>
                        </a:ext>
                      </a:extLst>
                    </a:gridCol>
                    <a:gridCol w="1797053">
                      <a:extLst>
                        <a:ext uri="{9D8B030D-6E8A-4147-A177-3AD203B41FA5}">
                          <a16:colId xmlns:a16="http://schemas.microsoft.com/office/drawing/2014/main" val="689660649"/>
                        </a:ext>
                      </a:extLst>
                    </a:gridCol>
                  </a:tblGrid>
                  <a:tr h="1495198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 anchor="ctr">
                        <a:blipFill>
                          <a:blip r:embed="rId5"/>
                          <a:stretch>
                            <a:fillRect l="-293" t="-407" r="-206158" b="-18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ts val="1200"/>
                            </a:lnSpc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u-RU" sz="1400" dirty="0">
                              <a:effectLst/>
                              <a:latin typeface="Times New Roman" panose="02020603050405020304" pitchFamily="18" charset="0"/>
                            </a:rPr>
                            <a:t>Соответствующие нормированные собственные векторы (правые сингулярные векторы)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ts val="1200"/>
                            </a:lnSpc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u-RU" sz="1400" dirty="0">
                              <a:effectLst/>
                              <a:latin typeface="Times New Roman" panose="02020603050405020304" pitchFamily="18" charset="0"/>
                            </a:rPr>
                            <a:t>Сингулярные числа</a:t>
                          </a:r>
                          <a:endParaRPr lang="ru-RU" sz="1200" dirty="0">
                            <a:effectLst/>
                          </a:endParaRPr>
                        </a:p>
                        <a:p>
                          <a:pPr algn="ctr">
                            <a:lnSpc>
                              <a:spcPts val="1200"/>
                            </a:lnSpc>
                            <a:spcAft>
                              <a:spcPts val="1200"/>
                            </a:spcAft>
                            <a:buNone/>
                          </a:pPr>
                          <a:r>
                            <a:rPr lang="ru-RU" sz="1400" dirty="0">
                              <a:effectLst/>
                            </a:rPr>
                            <a:t> 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6021544"/>
                      </a:ext>
                    </a:extLst>
                  </a:tr>
                  <a:tr h="557651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 anchor="ctr">
                        <a:blipFill>
                          <a:blip r:embed="rId5"/>
                          <a:stretch>
                            <a:fillRect l="-293" t="-271429" r="-206158" b="-39560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 anchor="ctr">
                        <a:blipFill>
                          <a:blip r:embed="rId5"/>
                          <a:stretch>
                            <a:fillRect l="-84444" t="-271429" r="-73580" b="-39560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 anchor="ctr">
                        <a:blipFill>
                          <a:blip r:embed="rId5"/>
                          <a:stretch>
                            <a:fillRect l="-253220" t="-271429" r="-1017" b="-39560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6338207"/>
                      </a:ext>
                    </a:extLst>
                  </a:tr>
                  <a:tr h="435635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 anchor="ctr">
                        <a:blipFill>
                          <a:blip r:embed="rId5"/>
                          <a:stretch>
                            <a:fillRect l="-293" t="-469444" r="-206158" b="-4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 anchor="ctr">
                        <a:blipFill>
                          <a:blip r:embed="rId5"/>
                          <a:stretch>
                            <a:fillRect l="-84444" t="-469444" r="-73580" b="-4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 anchor="ctr">
                        <a:blipFill>
                          <a:blip r:embed="rId5"/>
                          <a:stretch>
                            <a:fillRect l="-253220" t="-469444" r="-1017" b="-4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08605105"/>
                      </a:ext>
                    </a:extLst>
                  </a:tr>
                  <a:tr h="557651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 anchor="ctr">
                        <a:blipFill>
                          <a:blip r:embed="rId5"/>
                          <a:stretch>
                            <a:fillRect l="-293" t="-450549" r="-206158" b="-21648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 anchor="ctr">
                        <a:blipFill>
                          <a:blip r:embed="rId5"/>
                          <a:stretch>
                            <a:fillRect l="-84444" t="-450549" r="-73580" b="-21648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 anchor="ctr">
                        <a:blipFill>
                          <a:blip r:embed="rId5"/>
                          <a:stretch>
                            <a:fillRect l="-253220" t="-450549" r="-1017" b="-21648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17668745"/>
                      </a:ext>
                    </a:extLst>
                  </a:tr>
                  <a:tr h="592502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 anchor="ctr">
                        <a:blipFill>
                          <a:blip r:embed="rId5"/>
                          <a:stretch>
                            <a:fillRect l="-293" t="-511224" r="-206158" b="-10102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 anchor="ctr">
                        <a:blipFill>
                          <a:blip r:embed="rId5"/>
                          <a:stretch>
                            <a:fillRect l="-84444" t="-511224" r="-73580" b="-10102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 anchor="ctr">
                        <a:blipFill>
                          <a:blip r:embed="rId5"/>
                          <a:stretch>
                            <a:fillRect l="-253220" t="-511224" r="-1017" b="-10102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38594703"/>
                      </a:ext>
                    </a:extLst>
                  </a:tr>
                  <a:tr h="592502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 anchor="ctr">
                        <a:blipFill>
                          <a:blip r:embed="rId5"/>
                          <a:stretch>
                            <a:fillRect l="-293" t="-617526" r="-206158" b="-206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 anchor="ctr">
                        <a:blipFill>
                          <a:blip r:embed="rId5"/>
                          <a:stretch>
                            <a:fillRect l="-84444" t="-617526" r="-73580" b="-206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 anchor="ctr">
                        <a:blipFill>
                          <a:blip r:embed="rId5"/>
                          <a:stretch>
                            <a:fillRect l="-253220" t="-617526" r="-1017" b="-206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63372392"/>
                      </a:ext>
                    </a:extLst>
                  </a:tr>
                </a:tbl>
              </a:graphicData>
            </a:graphic>
          </p:graphicFrame>
        </mc:Fallback>
      </mc:AlternateContent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F1C7F0D-AAB6-3606-34F2-FF2D6DB79E90}"/>
                  </a:ext>
                </a:extLst>
              </p:cNvPr>
              <p:cNvSpPr txBox="1"/>
              <p:nvPr/>
            </p:nvSpPr>
            <p:spPr>
              <a:xfrm>
                <a:off x="698644" y="4606185"/>
                <a:ext cx="3554857" cy="6388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lnSpc>
                    <a:spcPts val="1200"/>
                  </a:lnSpc>
                  <a:spcAft>
                    <a:spcPts val="1200"/>
                  </a:spcAft>
                  <a:buNone/>
                </a:pPr>
                <a14:m>
                  <m:oMath xmlns:m="http://schemas.openxmlformats.org/officeDocument/2006/math">
                    <m:r>
                      <a:rPr lang="ru-RU" sz="300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𝑈</m:t>
                    </m:r>
                    <m:r>
                      <a:rPr lang="ru-RU" sz="300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=</m:t>
                    </m:r>
                    <m:d>
                      <m:dPr>
                        <m:ctrlPr>
                          <a:rPr lang="ru-RU" sz="3000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4"/>
                                  <m:mcJc m:val="center"/>
                                </m:mcPr>
                              </m:mc>
                            </m:mcs>
                            <m:ctrlPr>
                              <a:rPr lang="ru-RU" sz="3000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ru-RU" sz="3000" smtClean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ru-RU" sz="3000" smtClean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ru-RU" sz="300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ru-RU" sz="3000" smtClean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ru-RU" sz="3000" smtClean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ru-RU" sz="300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ru-RU" sz="3000" smtClean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ru-RU" sz="3000" smtClean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ru-RU" sz="3000" smtClean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ru-RU" sz="3000" smtClean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ru-RU" sz="3000" smtClean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ru-RU" sz="300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lang="ru-RU" sz="300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ru-RU" sz="3000" smtClean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ru-RU" sz="3000" smtClean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ru-RU" sz="3000" smtClean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ru-RU" sz="3000" baseline="30000" dirty="0">
                    <a:solidFill>
                      <a:srgbClr val="000000"/>
                    </a:solidFill>
                    <a:effectLst/>
                    <a:latin typeface="Times New Roman" panose="02020603050405020304" pitchFamily="18" charset="0"/>
                    <a:ea typeface="helvetica neue"/>
                    <a:cs typeface="Times New Roman" panose="02020603050405020304" pitchFamily="18" charset="0"/>
                    <a:hlinkClick r:id="rId2" action="ppaction://hlinkfile"/>
                  </a:rPr>
                  <a:t> </a:t>
                </a:r>
                <a:endParaRPr lang="ru-RU" sz="30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F1C7F0D-AAB6-3606-34F2-FF2D6DB79E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644" y="4606185"/>
                <a:ext cx="3554857" cy="638829"/>
              </a:xfrm>
              <a:prstGeom prst="rect">
                <a:avLst/>
              </a:prstGeom>
              <a:blipFill>
                <a:blip r:embed="rId3"/>
                <a:stretch>
                  <a:fillRect t="-17115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56FBB62-0A82-FA25-98FF-451FD47B5848}"/>
                  </a:ext>
                </a:extLst>
              </p:cNvPr>
              <p:cNvSpPr txBox="1"/>
              <p:nvPr/>
            </p:nvSpPr>
            <p:spPr>
              <a:xfrm>
                <a:off x="2835668" y="3340333"/>
                <a:ext cx="7315200" cy="182248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ru-RU" sz="3000" smtClean="0">
                          <a:latin typeface="Cambria Math" panose="02040503050406030204" pitchFamily="18" charset="0"/>
                        </a:rPr>
                        <m:t>Σ</m:t>
                      </m:r>
                      <m:r>
                        <a:rPr lang="ru-RU" sz="3000" i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ru-RU" sz="3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5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sz="30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ru-RU" sz="3000" i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ru-RU" sz="300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sz="300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sz="300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sz="300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ru-RU" sz="300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sz="3000" i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lang="ru-RU" sz="300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sz="300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sz="300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ru-RU" sz="300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sz="300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ad>
                                  <m:radPr>
                                    <m:degHide m:val="on"/>
                                    <m:ctrlPr>
                                      <a:rPr lang="ru-RU" sz="3000" i="1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ru-RU" sz="3000" i="0"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e>
                                </m:rad>
                              </m:e>
                              <m:e>
                                <m:r>
                                  <a:rPr lang="ru-RU" sz="300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sz="300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ru-RU" sz="300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sz="300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sz="300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sz="300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sz="300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ru-RU" sz="3000" dirty="0">
                  <a:latin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56FBB62-0A82-FA25-98FF-451FD47B58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5668" y="3340333"/>
                <a:ext cx="7315200" cy="18224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8B69B69-BF98-16A0-CB67-1A13FC02682D}"/>
                  </a:ext>
                </a:extLst>
              </p:cNvPr>
              <p:cNvSpPr txBox="1"/>
              <p:nvPr/>
            </p:nvSpPr>
            <p:spPr>
              <a:xfrm>
                <a:off x="7623425" y="2735485"/>
                <a:ext cx="7315200" cy="32871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ru-RU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ru-RU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𝑉</m:t>
                          </m:r>
                        </m:e>
                        <m:sup>
                          <m:r>
                            <a:rPr lang="ru-RU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ru-RU" sz="30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ru-RU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5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sz="3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ru-RU" sz="30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sz="30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ru-RU" sz="30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sz="30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sz="30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ru-RU" sz="30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sz="30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sz="30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ru-RU" sz="30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sz="30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lang="ru-RU" sz="3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ru-RU" sz="30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ad>
                                      <m:radPr>
                                        <m:degHide m:val="on"/>
                                        <m:ctrlPr>
                                          <a:rPr lang="ru-RU" sz="30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ru-RU" sz="300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5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  <m:e>
                                <m:r>
                                  <a:rPr lang="ru-RU" sz="30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sz="30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sz="30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f>
                                  <m:fPr>
                                    <m:ctrlPr>
                                      <a:rPr lang="ru-RU" sz="3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ru-RU" sz="30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num>
                                  <m:den>
                                    <m:rad>
                                      <m:radPr>
                                        <m:degHide m:val="on"/>
                                        <m:ctrlPr>
                                          <a:rPr lang="ru-RU" sz="30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ru-RU" sz="300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5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ru-RU" sz="30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ctrlPr>
                                      <a:rPr lang="ru-RU" sz="3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ru-RU" sz="30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num>
                                  <m:den>
                                    <m:rad>
                                      <m:radPr>
                                        <m:degHide m:val="on"/>
                                        <m:ctrlPr>
                                          <a:rPr lang="ru-RU" sz="30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ru-RU" sz="300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5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  <m:e>
                                <m:r>
                                  <a:rPr lang="ru-RU" sz="30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sz="30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sz="30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f>
                                  <m:fPr>
                                    <m:ctrlPr>
                                      <a:rPr lang="ru-RU" sz="3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ru-RU" sz="30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ad>
                                      <m:radPr>
                                        <m:degHide m:val="on"/>
                                        <m:ctrlPr>
                                          <a:rPr lang="ru-RU" sz="30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ru-RU" sz="300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5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ru-RU" sz="30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sz="30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sz="30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sz="30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ru-RU" sz="30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ru-RU" sz="3000" dirty="0">
                  <a:latin typeface="Times New Roman" panose="020206030504050203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8B69B69-BF98-16A0-CB67-1A13FC0268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3425" y="2735485"/>
                <a:ext cx="7315200" cy="328718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72DDA79E-7061-5C9A-1576-39A71A535FB9}"/>
              </a:ext>
            </a:extLst>
          </p:cNvPr>
          <p:cNvSpPr txBox="1"/>
          <p:nvPr/>
        </p:nvSpPr>
        <p:spPr>
          <a:xfrm>
            <a:off x="821933" y="894092"/>
            <a:ext cx="10849510" cy="5545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ts val="3200"/>
              </a:lnSpc>
              <a:buNone/>
            </a:pPr>
            <a:r>
              <a:rPr lang="ru-RU" sz="4500" dirty="0">
                <a:latin typeface="Times New Roman" panose="02020603050405020304" pitchFamily="18" charset="0"/>
                <a:ea typeface="Instrument Sans Semi Bold" pitchFamily="34" charset="-122"/>
                <a:cs typeface="Times New Roman" panose="02020603050405020304" pitchFamily="18" charset="0"/>
              </a:rPr>
              <a:t>Получившиеся матрицы разложения</a:t>
            </a:r>
            <a:endParaRPr lang="en-US" sz="4500" dirty="0">
              <a:latin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D72B3A5-19CC-1EC7-6CD8-91EAB1455469}"/>
                  </a:ext>
                </a:extLst>
              </p:cNvPr>
              <p:cNvSpPr txBox="1"/>
              <p:nvPr/>
            </p:nvSpPr>
            <p:spPr>
              <a:xfrm>
                <a:off x="441790" y="1875983"/>
                <a:ext cx="1158924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sz="2200" dirty="0">
                    <a:latin typeface="Times New Roman" panose="02020603050405020304" pitchFamily="18" charset="0"/>
                  </a:rPr>
                  <a:t>Собираем 3 матрицы разложения — </a:t>
                </a:r>
                <a:r>
                  <a:rPr lang="en-US" sz="2200" dirty="0">
                    <a:latin typeface="Times New Roman" panose="02020603050405020304" pitchFamily="18" charset="0"/>
                  </a:rPr>
                  <a:t>U,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sz="2400" smtClean="0">
                        <a:latin typeface="Cambria Math" panose="02040503050406030204" pitchFamily="18" charset="0"/>
                      </a:rPr>
                      <m:t>Σ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ru-RU" sz="2400" b="0" i="0" smtClean="0">
                        <a:latin typeface="Cambria Math" panose="02040503050406030204" pitchFamily="18" charset="0"/>
                      </a:rPr>
                      <m:t>и</m:t>
                    </m:r>
                    <m:sSup>
                      <m:sSupPr>
                        <m:ctrlPr>
                          <a:rPr lang="ru-RU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ru-RU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ru-RU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endParaRPr lang="ru-RU" sz="2200" dirty="0">
                  <a:latin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D72B3A5-19CC-1EC7-6CD8-91EAB14554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790" y="1875983"/>
                <a:ext cx="11589248" cy="461665"/>
              </a:xfrm>
              <a:prstGeom prst="rect">
                <a:avLst/>
              </a:prstGeom>
              <a:blipFill>
                <a:blip r:embed="rId6"/>
                <a:stretch>
                  <a:fillRect l="-683" t="-4000" b="-2533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148287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8909" y="634246"/>
            <a:ext cx="8136493" cy="5901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600"/>
              </a:lnSpc>
              <a:buNone/>
            </a:pPr>
            <a:r>
              <a:rPr lang="en-US" sz="4500" dirty="0">
                <a:latin typeface="Times New Roman" panose="02020603050405020304" pitchFamily="18" charset="0"/>
                <a:ea typeface="Instrument Sans Semi Bold" pitchFamily="34" charset="-122"/>
                <a:cs typeface="Times New Roman" panose="02020603050405020304" pitchFamily="18" charset="0"/>
              </a:rPr>
              <a:t>Разложение</a:t>
            </a:r>
            <a:r>
              <a:rPr lang="en-US" sz="3700" dirty="0">
                <a:solidFill>
                  <a:srgbClr val="091C53"/>
                </a:solidFill>
                <a:latin typeface="Times New Roman" panose="02020603050405020304" pitchFamily="18" charset="0"/>
                <a:ea typeface="Instrument Sans Semi Bold" pitchFamily="34" charset="-122"/>
                <a:cs typeface="Times New Roman" panose="02020603050405020304" pitchFamily="18" charset="0"/>
              </a:rPr>
              <a:t> </a:t>
            </a:r>
            <a:r>
              <a:rPr lang="en-US" sz="4500" dirty="0">
                <a:latin typeface="Times New Roman" panose="02020603050405020304" pitchFamily="18" charset="0"/>
                <a:ea typeface="Instrument Sans Semi Bold" pitchFamily="34" charset="-122"/>
                <a:cs typeface="Times New Roman" panose="02020603050405020304" pitchFamily="18" charset="0"/>
              </a:rPr>
              <a:t>в сумму матриц ранга 1</a:t>
            </a:r>
            <a:endParaRPr lang="en-US" sz="4500" dirty="0">
              <a:latin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798909" y="1538883"/>
            <a:ext cx="13032462" cy="3242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endParaRPr lang="en-US" sz="1650" dirty="0">
              <a:latin typeface="Times New Roman" panose="02020603050405020304" pitchFamily="18" charset="0"/>
            </a:endParaRPr>
          </a:p>
        </p:txBody>
      </p:sp>
      <p:sp>
        <p:nvSpPr>
          <p:cNvPr id="5" name="Text 2"/>
          <p:cNvSpPr/>
          <p:nvPr/>
        </p:nvSpPr>
        <p:spPr>
          <a:xfrm>
            <a:off x="798909" y="2062043"/>
            <a:ext cx="13032462" cy="1234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endParaRPr lang="en-US" sz="1650" dirty="0">
              <a:latin typeface="Times New Roman" panose="02020603050405020304" pitchFamily="18" charset="0"/>
            </a:endParaRPr>
          </a:p>
        </p:txBody>
      </p:sp>
      <p:sp>
        <p:nvSpPr>
          <p:cNvPr id="11" name="Text 5"/>
          <p:cNvSpPr/>
          <p:nvPr/>
        </p:nvSpPr>
        <p:spPr>
          <a:xfrm>
            <a:off x="798909" y="6361152"/>
            <a:ext cx="13032462" cy="1234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endParaRPr lang="en-US" sz="1650" dirty="0">
              <a:latin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C21B279-58C0-2072-12D3-C2B54E8CB4D4}"/>
                  </a:ext>
                </a:extLst>
              </p:cNvPr>
              <p:cNvSpPr txBox="1"/>
              <p:nvPr/>
            </p:nvSpPr>
            <p:spPr>
              <a:xfrm>
                <a:off x="3513700" y="1381725"/>
                <a:ext cx="7315200" cy="10164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200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ru-RU" sz="2200" i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grow m:val="on"/>
                          <m:ctrlPr>
                            <a:rPr lang="ru-RU" sz="2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ru-RU" sz="22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ru-RU" sz="2200" i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ru-RU" sz="2200" i="1">
                              <a:latin typeface="Cambria Math" panose="02040503050406030204" pitchFamily="18" charset="0"/>
                            </a:rPr>
                            <m:t>𝑟</m:t>
                          </m:r>
                        </m:sup>
                        <m:e>
                          <m:r>
                            <a:rPr lang="ru-RU" sz="2200" i="0">
                              <a:latin typeface="Cambria Math" panose="02040503050406030204" pitchFamily="18" charset="0"/>
                            </a:rPr>
                            <m:t> </m:t>
                          </m:r>
                        </m:e>
                      </m:nary>
                      <m:sSub>
                        <m:sSubPr>
                          <m:ctrlPr>
                            <a:rPr lang="ru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2200" i="1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ru-RU" sz="2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ru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22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ru-RU" sz="2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Sup>
                        <m:sSubSupPr>
                          <m:ctrlPr>
                            <a:rPr lang="ru-RU" sz="22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ru-RU" sz="22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ru-RU" sz="2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ru-RU" sz="22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  <m:r>
                        <a:rPr lang="ru-RU" sz="2200" i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ru-RU" sz="2200" dirty="0">
                  <a:latin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C21B279-58C0-2072-12D3-C2B54E8CB4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13700" y="1381725"/>
                <a:ext cx="7315200" cy="101649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50055AB6-9DE0-C7A3-6380-5B255DBF37D3}"/>
                  </a:ext>
                </a:extLst>
              </p:cNvPr>
              <p:cNvSpPr txBox="1"/>
              <p:nvPr/>
            </p:nvSpPr>
            <p:spPr>
              <a:xfrm>
                <a:off x="827009" y="2384666"/>
                <a:ext cx="5661061" cy="17665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ru-RU" sz="220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ru-RU" sz="22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ru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ru-RU" sz="2200" i="0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a:rPr lang="ru-RU" sz="22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ru-RU" sz="22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ru-RU" sz="2200" i="0"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ru-RU" sz="22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ru-RU" sz="2200" i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  <m:r>
                        <a:rPr lang="ru-RU" sz="2200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ru-RU" sz="2200" i="0" smtClean="0">
                          <a:latin typeface="Cambria Math" panose="02040503050406030204" pitchFamily="18" charset="0"/>
                        </a:rPr>
                        <m:t>4</m:t>
                      </m:r>
                      <m:d>
                        <m:dPr>
                          <m:ctrlPr>
                            <a:rPr lang="ru-RU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sz="22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ru-RU" sz="220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ru-RU" sz="220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ru-RU" sz="220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ru-RU" sz="2200" i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sSup>
                        <m:sSupPr>
                          <m:ctrlPr>
                            <a:rPr lang="ru-RU" sz="2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ru-RU" sz="2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eqArr>
                                <m:eqArrPr>
                                  <m:ctrlPr>
                                    <a:rPr lang="ru-RU" sz="2200" i="1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a:rPr lang="ru-RU" sz="2200" i="0">
                                      <a:latin typeface="Cambria Math" panose="02040503050406030204" pitchFamily="18" charset="0"/>
                                    </a:rPr>
                                    <m:t>&amp;0</m:t>
                                  </m:r>
                                </m:e>
                                <m:e>
                                  <m:r>
                                    <a:rPr lang="ru-RU" sz="2200" i="0">
                                      <a:latin typeface="Cambria Math" panose="02040503050406030204" pitchFamily="18" charset="0"/>
                                    </a:rPr>
                                    <m:t>&amp;1</m:t>
                                  </m:r>
                                </m:e>
                                <m:e>
                                  <m:r>
                                    <a:rPr lang="ru-RU" sz="2200" i="0">
                                      <a:latin typeface="Cambria Math" panose="02040503050406030204" pitchFamily="18" charset="0"/>
                                    </a:rPr>
                                    <m:t>&amp;0</m:t>
                                  </m:r>
                                </m:e>
                                <m:e>
                                  <m:r>
                                    <a:rPr lang="ru-RU" sz="2200" i="0">
                                      <a:latin typeface="Cambria Math" panose="02040503050406030204" pitchFamily="18" charset="0"/>
                                    </a:rPr>
                                    <m:t>&amp;0</m:t>
                                  </m:r>
                                </m:e>
                                <m:e>
                                  <m:r>
                                    <a:rPr lang="ru-RU" sz="2200" i="0">
                                      <a:latin typeface="Cambria Math" panose="02040503050406030204" pitchFamily="18" charset="0"/>
                                    </a:rPr>
                                    <m:t>&amp;0</m:t>
                                  </m:r>
                                </m:e>
                              </m:eqArr>
                            </m:e>
                          </m:d>
                        </m:e>
                        <m:sup>
                          <m:r>
                            <a:rPr lang="ru-RU" sz="22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ru-RU" sz="2200" i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ru-RU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5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sz="22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ru-RU" sz="220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sz="220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sz="220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sz="220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sz="220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ru-RU" sz="220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sz="220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sz="220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sz="220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sz="220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ru-RU" sz="220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sz="220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sz="220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sz="220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sz="220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ru-RU" sz="220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sz="2200" i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ru-RU" sz="220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sz="220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sz="220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ru-RU" sz="2200" dirty="0">
                  <a:latin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50055AB6-9DE0-C7A3-6380-5B255DBF37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009" y="2384666"/>
                <a:ext cx="5661061" cy="176657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64C9DCC-6E92-700A-468E-40AFCBD88970}"/>
                  </a:ext>
                </a:extLst>
              </p:cNvPr>
              <p:cNvSpPr txBox="1"/>
              <p:nvPr/>
            </p:nvSpPr>
            <p:spPr>
              <a:xfrm>
                <a:off x="7078681" y="2386519"/>
                <a:ext cx="5948737" cy="17665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ru-RU" sz="220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ru-RU" sz="2200" i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ru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22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ru-RU" sz="2200" i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Sup>
                        <m:sSubSupPr>
                          <m:ctrlPr>
                            <a:rPr lang="ru-RU" sz="22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ru-RU" sz="22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ru-RU" sz="2200" i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ru-RU" sz="22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  <m:r>
                        <a:rPr lang="ru-RU" sz="2200" i="0">
                          <a:latin typeface="Cambria Math" panose="02040503050406030204" pitchFamily="18" charset="0"/>
                        </a:rPr>
                        <m:t>= 3</m:t>
                      </m:r>
                      <m:d>
                        <m:dPr>
                          <m:ctrlPr>
                            <a:rPr lang="ru-RU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sz="22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ru-RU" sz="220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ru-RU" sz="2200" i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ru-RU" sz="220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ru-RU" sz="220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sSup>
                        <m:sSupPr>
                          <m:ctrlPr>
                            <a:rPr lang="ru-RU" sz="2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ru-RU" sz="2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eqArr>
                                <m:eqArrPr>
                                  <m:ctrlPr>
                                    <a:rPr lang="ru-RU" sz="2200" i="1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a:rPr lang="ru-RU" sz="2200" i="0">
                                      <a:latin typeface="Cambria Math" panose="02040503050406030204" pitchFamily="18" charset="0"/>
                                    </a:rPr>
                                    <m:t>&amp;0</m:t>
                                  </m:r>
                                </m:e>
                                <m:e>
                                  <m:r>
                                    <a:rPr lang="ru-RU" sz="2200" i="0">
                                      <a:latin typeface="Cambria Math" panose="02040503050406030204" pitchFamily="18" charset="0"/>
                                    </a:rPr>
                                    <m:t>&amp;0</m:t>
                                  </m:r>
                                </m:e>
                                <m:e>
                                  <m:r>
                                    <a:rPr lang="ru-RU" sz="2200" i="0">
                                      <a:latin typeface="Cambria Math" panose="02040503050406030204" pitchFamily="18" charset="0"/>
                                    </a:rPr>
                                    <m:t>&amp;1</m:t>
                                  </m:r>
                                </m:e>
                                <m:e>
                                  <m:r>
                                    <a:rPr lang="ru-RU" sz="2200" i="0">
                                      <a:latin typeface="Cambria Math" panose="02040503050406030204" pitchFamily="18" charset="0"/>
                                    </a:rPr>
                                    <m:t>&amp;0</m:t>
                                  </m:r>
                                </m:e>
                                <m:e>
                                  <m:r>
                                    <a:rPr lang="ru-RU" sz="2200" i="0">
                                      <a:latin typeface="Cambria Math" panose="02040503050406030204" pitchFamily="18" charset="0"/>
                                    </a:rPr>
                                    <m:t>&amp;0</m:t>
                                  </m:r>
                                </m:e>
                              </m:eqArr>
                            </m:e>
                          </m:d>
                        </m:e>
                        <m:sup>
                          <m:r>
                            <a:rPr lang="ru-RU" sz="22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ru-RU" sz="2200" i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ru-RU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5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sz="22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ru-RU" sz="220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sz="220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sz="220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sz="220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sz="220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ru-RU" sz="220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sz="220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sz="2200" i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lang="ru-RU" sz="220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sz="220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ru-RU" sz="220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sz="220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sz="220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sz="220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sz="220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ru-RU" sz="220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sz="220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sz="220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sz="220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sz="220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ru-RU" sz="2200" dirty="0">
                  <a:latin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64C9DCC-6E92-700A-468E-40AFCBD889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78681" y="2386519"/>
                <a:ext cx="5948737" cy="176657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D431911-A711-1F39-BB39-8200782B8375}"/>
                  </a:ext>
                </a:extLst>
              </p:cNvPr>
              <p:cNvSpPr txBox="1"/>
              <p:nvPr/>
            </p:nvSpPr>
            <p:spPr>
              <a:xfrm>
                <a:off x="3513700" y="4228836"/>
                <a:ext cx="7315200" cy="25506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ru-RU" sz="220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ru-RU" sz="2200" i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ru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22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ru-RU" sz="2200" i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Sup>
                        <m:sSubSupPr>
                          <m:ctrlPr>
                            <a:rPr lang="ru-RU" sz="22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ru-RU" sz="22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ru-RU" sz="2200" i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ru-RU" sz="22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  <m:r>
                        <a:rPr lang="ru-RU" sz="2200" i="0">
                          <a:latin typeface="Cambria Math" panose="02040503050406030204" pitchFamily="18" charset="0"/>
                        </a:rPr>
                        <m:t>= </m:t>
                      </m:r>
                      <m:rad>
                        <m:radPr>
                          <m:degHide m:val="on"/>
                          <m:ctrlPr>
                            <a:rPr lang="ru-RU" sz="220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ru-RU" sz="2200" i="0">
                              <a:latin typeface="Cambria Math" panose="02040503050406030204" pitchFamily="18" charset="0"/>
                            </a:rPr>
                            <m:t>5</m:t>
                          </m:r>
                        </m:e>
                      </m:rad>
                      <m:d>
                        <m:dPr>
                          <m:ctrlPr>
                            <a:rPr lang="ru-RU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sz="22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ru-RU" sz="2200" i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ru-RU" sz="220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ru-RU" sz="220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ru-RU" sz="220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sSup>
                        <m:sSupPr>
                          <m:ctrlPr>
                            <a:rPr lang="ru-RU" sz="2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ru-RU" sz="2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eqArr>
                                <m:eqArrPr>
                                  <m:ctrlPr>
                                    <a:rPr lang="ru-RU" sz="2200" i="1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a:rPr lang="ru-RU" sz="2200" i="0">
                                      <a:latin typeface="Cambria Math" panose="02040503050406030204" pitchFamily="18" charset="0"/>
                                    </a:rPr>
                                    <m:t>&amp;</m:t>
                                  </m:r>
                                  <m:f>
                                    <m:fPr>
                                      <m:ctrlPr>
                                        <a:rPr lang="ru-RU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ru-RU" sz="2200" i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ad>
                                        <m:radPr>
                                          <m:degHide m:val="on"/>
                                          <m:ctrlPr>
                                            <a:rPr lang="ru-RU" sz="2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radPr>
                                        <m:deg/>
                                        <m:e>
                                          <m:r>
                                            <a:rPr lang="ru-RU" sz="2200" i="0">
                                              <a:latin typeface="Cambria Math" panose="02040503050406030204" pitchFamily="18" charset="0"/>
                                            </a:rPr>
                                            <m:t>5</m:t>
                                          </m:r>
                                        </m:e>
                                      </m:rad>
                                    </m:den>
                                  </m:f>
                                </m:e>
                                <m:e>
                                  <m:r>
                                    <a:rPr lang="ru-RU" sz="2200" i="0">
                                      <a:latin typeface="Cambria Math" panose="02040503050406030204" pitchFamily="18" charset="0"/>
                                    </a:rPr>
                                    <m:t>&amp;0</m:t>
                                  </m:r>
                                </m:e>
                                <m:e>
                                  <m:r>
                                    <a:rPr lang="ru-RU" sz="2200" i="0">
                                      <a:latin typeface="Cambria Math" panose="02040503050406030204" pitchFamily="18" charset="0"/>
                                    </a:rPr>
                                    <m:t>&amp;0</m:t>
                                  </m:r>
                                </m:e>
                                <m:e>
                                  <m:r>
                                    <a:rPr lang="ru-RU" sz="2200" i="0">
                                      <a:latin typeface="Cambria Math" panose="02040503050406030204" pitchFamily="18" charset="0"/>
                                    </a:rPr>
                                    <m:t>&amp;0</m:t>
                                  </m:r>
                                </m:e>
                                <m:e>
                                  <m:r>
                                    <a:rPr lang="ru-RU" sz="2200" i="0">
                                      <a:latin typeface="Cambria Math" panose="02040503050406030204" pitchFamily="18" charset="0"/>
                                    </a:rPr>
                                    <m:t>&amp;</m:t>
                                  </m:r>
                                  <m:f>
                                    <m:fPr>
                                      <m:ctrlPr>
                                        <a:rPr lang="ru-RU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ru-RU" sz="2200" i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num>
                                    <m:den>
                                      <m:rad>
                                        <m:radPr>
                                          <m:degHide m:val="on"/>
                                          <m:ctrlPr>
                                            <a:rPr lang="ru-RU" sz="2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radPr>
                                        <m:deg/>
                                        <m:e>
                                          <m:r>
                                            <a:rPr lang="ru-RU" sz="2200" i="0">
                                              <a:latin typeface="Cambria Math" panose="02040503050406030204" pitchFamily="18" charset="0"/>
                                            </a:rPr>
                                            <m:t>5</m:t>
                                          </m:r>
                                        </m:e>
                                      </m:rad>
                                    </m:den>
                                  </m:f>
                                </m:e>
                              </m:eqArr>
                            </m:e>
                          </m:d>
                        </m:e>
                        <m:sup>
                          <m:r>
                            <a:rPr lang="ru-RU" sz="22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ru-RU" sz="2200" i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ru-RU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5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sz="22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ru-RU" sz="2200" i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ru-RU" sz="220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sz="220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sz="220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sz="2200" i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lang="ru-RU" sz="220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sz="220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sz="220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sz="220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sz="220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ru-RU" sz="220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sz="220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sz="220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sz="220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sz="220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ru-RU" sz="220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sz="220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sz="220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sz="220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sz="2200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ru-RU" sz="2200" dirty="0">
                  <a:latin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D431911-A711-1F39-BB39-8200782B83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13700" y="4228836"/>
                <a:ext cx="7315200" cy="255069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561295"/>
            <a:ext cx="9088636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500" dirty="0">
                <a:latin typeface="Times New Roman" panose="02020603050405020304" pitchFamily="18" charset="0"/>
                <a:ea typeface="Instrument Sans Semi Bold" pitchFamily="34" charset="-122"/>
                <a:cs typeface="Times New Roman" panose="02020603050405020304" pitchFamily="18" charset="0"/>
              </a:rPr>
              <a:t>Фильтрация сигналов через SVD</a:t>
            </a:r>
            <a:endParaRPr lang="en-US" sz="4500" dirty="0">
              <a:latin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793790" y="1778556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3000" dirty="0">
                <a:latin typeface="Times New Roman" panose="02020603050405020304" pitchFamily="18" charset="0"/>
                <a:ea typeface="Instrument Sans Medium" pitchFamily="34" charset="-122"/>
                <a:cs typeface="Times New Roman" panose="02020603050405020304" pitchFamily="18" charset="0"/>
              </a:rPr>
              <a:t>SVD позволяет аппроксимировать матрицу матрицей меньшего ранга</a:t>
            </a:r>
            <a:r>
              <a:rPr lang="en-US" sz="3000" dirty="0">
                <a:solidFill>
                  <a:srgbClr val="1E3063"/>
                </a:solidFill>
                <a:latin typeface="Times New Roman" panose="02020603050405020304" pitchFamily="18" charset="0"/>
                <a:ea typeface="Instrument Sans Medium" pitchFamily="34" charset="-122"/>
                <a:cs typeface="Times New Roman" panose="02020603050405020304" pitchFamily="18" charset="0"/>
              </a:rPr>
              <a:t>. </a:t>
            </a:r>
            <a:endParaRPr lang="en-US" sz="3000" dirty="0">
              <a:latin typeface="Times New Roman" panose="02020603050405020304" pitchFamily="18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927354" y="3315533"/>
            <a:ext cx="11257797" cy="2211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Font typeface="+mj-lt"/>
              <a:buAutoNum type="arabicPeriod"/>
            </a:pPr>
            <a:r>
              <a:rPr lang="ru-RU" sz="2200" dirty="0">
                <a:latin typeface="Times New Roman" panose="02020603050405020304" pitchFamily="18" charset="0"/>
                <a:ea typeface="Instrument Sans Medium" pitchFamily="34" charset="-122"/>
                <a:cs typeface="Times New Roman" panose="02020603050405020304" pitchFamily="18" charset="0"/>
              </a:rPr>
              <a:t>Построим</a:t>
            </a:r>
            <a:r>
              <a:rPr lang="en-US" sz="2200" dirty="0">
                <a:latin typeface="Times New Roman" panose="02020603050405020304" pitchFamily="18" charset="0"/>
                <a:ea typeface="Instrument Sans Medium" pitchFamily="34" charset="-122"/>
                <a:cs typeface="Times New Roman" panose="02020603050405020304" pitchFamily="18" charset="0"/>
              </a:rPr>
              <a:t> матрицу Ханкеля из исходного сигнала.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Font typeface="+mj-lt"/>
              <a:buAutoNum type="arabicPeriod" startAt="2"/>
            </a:pPr>
            <a:r>
              <a:rPr lang="en-US" sz="2200" dirty="0">
                <a:latin typeface="Times New Roman" panose="02020603050405020304" pitchFamily="18" charset="0"/>
                <a:ea typeface="Instrument Sans Medium" pitchFamily="34" charset="-122"/>
                <a:cs typeface="Times New Roman" panose="02020603050405020304" pitchFamily="18" charset="0"/>
              </a:rPr>
              <a:t>Выполни</a:t>
            </a:r>
            <a:r>
              <a:rPr lang="ru-RU" sz="2200" dirty="0">
                <a:latin typeface="Times New Roman" panose="02020603050405020304" pitchFamily="18" charset="0"/>
                <a:ea typeface="Instrument Sans Medium" pitchFamily="34" charset="-122"/>
                <a:cs typeface="Times New Roman" panose="02020603050405020304" pitchFamily="18" charset="0"/>
              </a:rPr>
              <a:t>м</a:t>
            </a:r>
            <a:r>
              <a:rPr lang="en-US" sz="2200" dirty="0">
                <a:latin typeface="Times New Roman" panose="02020603050405020304" pitchFamily="18" charset="0"/>
                <a:ea typeface="Instrument Sans Medium" pitchFamily="34" charset="-122"/>
                <a:cs typeface="Times New Roman" panose="02020603050405020304" pitchFamily="18" charset="0"/>
              </a:rPr>
              <a:t> сингулярное разложение: H = UΣVᵀ.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Font typeface="+mj-lt"/>
              <a:buAutoNum type="arabicPeriod" startAt="3"/>
            </a:pPr>
            <a:r>
              <a:rPr lang="en-US" sz="2200" dirty="0">
                <a:latin typeface="Times New Roman" panose="02020603050405020304" pitchFamily="18" charset="0"/>
                <a:ea typeface="Instrument Sans Medium" pitchFamily="34" charset="-122"/>
                <a:cs typeface="Times New Roman" panose="02020603050405020304" pitchFamily="18" charset="0"/>
              </a:rPr>
              <a:t>Остави</a:t>
            </a:r>
            <a:r>
              <a:rPr lang="ru-RU" sz="2200" dirty="0">
                <a:latin typeface="Times New Roman" panose="02020603050405020304" pitchFamily="18" charset="0"/>
                <a:ea typeface="Instrument Sans Medium" pitchFamily="34" charset="-122"/>
                <a:cs typeface="Times New Roman" panose="02020603050405020304" pitchFamily="18" charset="0"/>
              </a:rPr>
              <a:t>м</a:t>
            </a:r>
            <a:r>
              <a:rPr lang="en-US" sz="2200" dirty="0">
                <a:latin typeface="Times New Roman" panose="02020603050405020304" pitchFamily="18" charset="0"/>
                <a:ea typeface="Instrument Sans Medium" pitchFamily="34" charset="-122"/>
                <a:cs typeface="Times New Roman" panose="02020603050405020304" pitchFamily="18" charset="0"/>
              </a:rPr>
              <a:t> первые r компоненты с наибольшими σ для низкоранговой аппроксимации.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Font typeface="+mj-lt"/>
              <a:buAutoNum type="arabicPeriod" startAt="4"/>
            </a:pPr>
            <a:r>
              <a:rPr lang="en-US" sz="2200" dirty="0">
                <a:latin typeface="Times New Roman" panose="02020603050405020304" pitchFamily="18" charset="0"/>
                <a:ea typeface="Instrument Sans Medium" pitchFamily="34" charset="-122"/>
                <a:cs typeface="Times New Roman" panose="02020603050405020304" pitchFamily="18" charset="0"/>
              </a:rPr>
              <a:t>Прове</a:t>
            </a:r>
            <a:r>
              <a:rPr lang="ru-RU" sz="2200" dirty="0">
                <a:latin typeface="Times New Roman" panose="02020603050405020304" pitchFamily="18" charset="0"/>
                <a:ea typeface="Instrument Sans Medium" pitchFamily="34" charset="-122"/>
                <a:cs typeface="Times New Roman" panose="02020603050405020304" pitchFamily="18" charset="0"/>
              </a:rPr>
              <a:t>дём</a:t>
            </a:r>
            <a:r>
              <a:rPr lang="en-US" sz="2200" dirty="0">
                <a:latin typeface="Times New Roman" panose="02020603050405020304" pitchFamily="18" charset="0"/>
                <a:ea typeface="Instrument Sans Medium" pitchFamily="34" charset="-122"/>
                <a:cs typeface="Times New Roman" panose="02020603050405020304" pitchFamily="18" charset="0"/>
              </a:rPr>
              <a:t> диагональное усреднение, чтобы </a:t>
            </a:r>
            <a:r>
              <a:rPr lang="ru-RU" sz="2200" dirty="0">
                <a:latin typeface="Times New Roman" panose="02020603050405020304" pitchFamily="18" charset="0"/>
                <a:ea typeface="Instrument Sans Medium" pitchFamily="34" charset="-122"/>
                <a:cs typeface="Times New Roman" panose="02020603050405020304" pitchFamily="18" charset="0"/>
              </a:rPr>
              <a:t>преобразовать матрицу в</a:t>
            </a:r>
            <a:r>
              <a:rPr lang="en-US" sz="2200" dirty="0">
                <a:latin typeface="Times New Roman" panose="02020603050405020304" pitchFamily="18" charset="0"/>
                <a:ea typeface="Instrument Sans Medium" pitchFamily="34" charset="-122"/>
                <a:cs typeface="Times New Roman" panose="02020603050405020304" pitchFamily="18" charset="0"/>
              </a:rPr>
              <a:t> очищенный сигнал</a:t>
            </a:r>
            <a:r>
              <a:rPr lang="en-US" dirty="0">
                <a:latin typeface="Times New Roman" panose="02020603050405020304" pitchFamily="18" charset="0"/>
                <a:ea typeface="Instrument Sans Medium" pitchFamily="34" charset="-122"/>
                <a:cs typeface="Times New Roman" panose="02020603050405020304" pitchFamily="18" charset="0"/>
              </a:rPr>
              <a:t>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A00EC2-8893-382B-D589-A92777BE8EC6}"/>
              </a:ext>
            </a:extLst>
          </p:cNvPr>
          <p:cNvSpPr txBox="1"/>
          <p:nvPr/>
        </p:nvSpPr>
        <p:spPr>
          <a:xfrm>
            <a:off x="927354" y="2654668"/>
            <a:ext cx="574325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Алгоритм фильтрации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734745"/>
            <a:ext cx="8301633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500" dirty="0">
                <a:latin typeface="Times New Roman" panose="02020603050405020304" pitchFamily="18" charset="0"/>
                <a:ea typeface="Instrument Sans Semi Bold" pitchFamily="34" charset="-122"/>
                <a:cs typeface="Times New Roman" panose="02020603050405020304" pitchFamily="18" charset="0"/>
              </a:rPr>
              <a:t>Построение</a:t>
            </a:r>
            <a:r>
              <a:rPr lang="en-US" sz="4500" dirty="0">
                <a:solidFill>
                  <a:srgbClr val="091C53"/>
                </a:solidFill>
                <a:latin typeface="Times New Roman" panose="02020603050405020304" pitchFamily="18" charset="0"/>
                <a:ea typeface="Instrument Sans Semi Bold" pitchFamily="34" charset="-122"/>
                <a:cs typeface="Times New Roman" panose="02020603050405020304" pitchFamily="18" charset="0"/>
              </a:rPr>
              <a:t> </a:t>
            </a:r>
            <a:r>
              <a:rPr lang="en-US" sz="4500" dirty="0">
                <a:latin typeface="Times New Roman" panose="02020603050405020304" pitchFamily="18" charset="0"/>
                <a:ea typeface="Instrument Sans Semi Bold" pitchFamily="34" charset="-122"/>
                <a:cs typeface="Times New Roman" panose="02020603050405020304" pitchFamily="18" charset="0"/>
              </a:rPr>
              <a:t>матрицы Ханкеля</a:t>
            </a:r>
            <a:endParaRPr lang="en-US" sz="4500" dirty="0">
              <a:latin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872074" y="2000224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latin typeface="Times New Roman" panose="02020603050405020304" pitchFamily="18" charset="0"/>
                <a:ea typeface="Instrument Sans Semi Bold" pitchFamily="34" charset="-122"/>
                <a:cs typeface="Times New Roman" panose="02020603050405020304" pitchFamily="18" charset="0"/>
              </a:rPr>
              <a:t>Параметры</a:t>
            </a:r>
            <a:endParaRPr lang="en-US" sz="2200" dirty="0">
              <a:latin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2"/>
              <p:cNvSpPr/>
              <p:nvPr/>
            </p:nvSpPr>
            <p:spPr>
              <a:xfrm>
                <a:off x="872074" y="2581368"/>
                <a:ext cx="6244709" cy="72580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850"/>
                  </a:lnSpc>
                  <a:buNone/>
                </a:pPr>
                <a:r>
                  <a:rPr lang="en-US" sz="22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Instrument Sans Medium" pitchFamily="34" charset="-122"/>
                    <a:cs typeface="Times New Roman" panose="02020603050405020304" pitchFamily="18" charset="0"/>
                  </a:rPr>
                  <a:t>Дан сигнал </a:t>
                </a:r>
                <a:r>
                  <a:rPr lang="en-US" sz="2200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Instrument Sans Medium" pitchFamily="34" charset="-122"/>
                    <a:cs typeface="Times New Roman" panose="02020603050405020304" pitchFamily="18" charset="0"/>
                  </a:rPr>
                  <a:t>x = (x₀, x₁, …,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b="1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Instrument Sans Medium" pitchFamily="34" charset="-122"/>
                            <a:cs typeface="Instrument Sans Medium" pitchFamily="34" charset="-120"/>
                          </a:rPr>
                        </m:ctrlPr>
                      </m:sSubPr>
                      <m:e>
                        <m:r>
                          <a:rPr lang="en-US" sz="2200" b="1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Instrument Sans Medium" pitchFamily="34" charset="-122"/>
                            <a:cs typeface="Instrument Sans Medium" pitchFamily="34" charset="-120"/>
                          </a:rPr>
                          <m:t>𝒙</m:t>
                        </m:r>
                      </m:e>
                      <m:sub>
                        <m:r>
                          <a:rPr lang="en-US" sz="2200" b="1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Instrument Sans Medium" pitchFamily="34" charset="-122"/>
                            <a:cs typeface="Instrument Sans Medium" pitchFamily="34" charset="-120"/>
                          </a:rPr>
                          <m:t>𝑵</m:t>
                        </m:r>
                        <m:r>
                          <a:rPr lang="en-US" sz="2200" b="1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Instrument Sans Medium" pitchFamily="34" charset="-122"/>
                            <a:cs typeface="Instrument Sans Medium" pitchFamily="34" charset="-120"/>
                          </a:rPr>
                          <m:t>−</m:t>
                        </m:r>
                        <m:r>
                          <a:rPr lang="en-US" sz="2200" b="1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Instrument Sans Medium" pitchFamily="34" charset="-122"/>
                            <a:cs typeface="Instrument Sans Medium" pitchFamily="34" charset="-12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US" sz="2200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Instrument Sans Medium" pitchFamily="34" charset="-122"/>
                    <a:cs typeface="Times New Roman" panose="02020603050405020304" pitchFamily="18" charset="0"/>
                  </a:rPr>
                  <a:t>)</a:t>
                </a:r>
                <a:r>
                  <a:rPr lang="en-US" sz="22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Instrument Sans Medium" pitchFamily="34" charset="-122"/>
                    <a:cs typeface="Times New Roman" panose="02020603050405020304" pitchFamily="18" charset="0"/>
                  </a:rPr>
                  <a:t>. Выбирается размер окна </a:t>
                </a:r>
                <a:r>
                  <a:rPr lang="en-US" sz="2200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Instrument Sans Medium" pitchFamily="34" charset="-122"/>
                    <a:cs typeface="Times New Roman" panose="02020603050405020304" pitchFamily="18" charset="0"/>
                  </a:rPr>
                  <a:t>L</a:t>
                </a:r>
                <a:r>
                  <a:rPr lang="en-US" sz="22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Instrument Sans Medium" pitchFamily="34" charset="-122"/>
                    <a:cs typeface="Times New Roman" panose="02020603050405020304" pitchFamily="18" charset="0"/>
                  </a:rPr>
                  <a:t>:</a:t>
                </a:r>
                <a:endParaRPr lang="en-US" sz="2200" dirty="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" name="Text 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2074" y="2581368"/>
                <a:ext cx="6244709" cy="725805"/>
              </a:xfrm>
              <a:prstGeom prst="rect">
                <a:avLst/>
              </a:prstGeom>
              <a:blipFill>
                <a:blip r:embed="rId3"/>
                <a:stretch>
                  <a:fillRect l="-2734" t="-10833" r="-3613" b="-20833"/>
                </a:stretch>
              </a:blipFill>
              <a:ln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 3"/>
          <p:cNvSpPr/>
          <p:nvPr/>
        </p:nvSpPr>
        <p:spPr>
          <a:xfrm>
            <a:off x="872074" y="3511247"/>
            <a:ext cx="6244709" cy="805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2200" dirty="0">
                <a:latin typeface="Times New Roman" panose="02020603050405020304" pitchFamily="18" charset="0"/>
                <a:ea typeface="Instrument Sans Medium" pitchFamily="34" charset="-122"/>
                <a:cs typeface="Times New Roman" panose="02020603050405020304" pitchFamily="18" charset="0"/>
              </a:rPr>
              <a:t>m = L (число строк)</a:t>
            </a:r>
            <a:endParaRPr lang="en-US" sz="2200" dirty="0">
              <a:latin typeface="Times New Roman" panose="02020603050405020304" pitchFamily="18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2200" dirty="0">
                <a:latin typeface="Times New Roman" panose="02020603050405020304" pitchFamily="18" charset="0"/>
                <a:ea typeface="Instrument Sans Medium" pitchFamily="34" charset="-122"/>
                <a:cs typeface="Times New Roman" panose="02020603050405020304" pitchFamily="18" charset="0"/>
              </a:rPr>
              <a:t>n = N − m + 1 (число столбцов)</a:t>
            </a:r>
            <a:endParaRPr lang="en-US" sz="2200" dirty="0">
              <a:latin typeface="Times New Roman" panose="02020603050405020304" pitchFamily="18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872074" y="4520420"/>
            <a:ext cx="624470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200" dirty="0">
                <a:latin typeface="Times New Roman" panose="02020603050405020304" pitchFamily="18" charset="0"/>
                <a:ea typeface="Instrument Sans Medium" pitchFamily="34" charset="-122"/>
                <a:cs typeface="Times New Roman" panose="02020603050405020304" pitchFamily="18" charset="0"/>
              </a:rPr>
              <a:t>Элемент матрицы: </a:t>
            </a:r>
            <a:r>
              <a:rPr lang="en-US" sz="2200" b="1" dirty="0">
                <a:latin typeface="Times New Roman" panose="02020603050405020304" pitchFamily="18" charset="0"/>
                <a:ea typeface="Instrument Sans Medium" pitchFamily="34" charset="-122"/>
                <a:cs typeface="Times New Roman" panose="02020603050405020304" pitchFamily="18" charset="0"/>
              </a:rPr>
              <a:t>Hi,j = xi+j</a:t>
            </a:r>
            <a:r>
              <a:rPr lang="en-US" sz="2200" dirty="0">
                <a:latin typeface="Times New Roman" panose="02020603050405020304" pitchFamily="18" charset="0"/>
                <a:ea typeface="Instrument Sans Medium" pitchFamily="34" charset="-122"/>
                <a:cs typeface="Times New Roman" panose="02020603050405020304" pitchFamily="18" charset="0"/>
              </a:rPr>
              <a:t>. Элементы на одной побочной диагонали одинаковы.</a:t>
            </a:r>
            <a:endParaRPr lang="en-US" sz="2200" dirty="0">
              <a:latin typeface="Times New Roman" panose="02020603050405020304" pitchFamily="18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7677805" y="2000224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latin typeface="Times New Roman" panose="02020603050405020304" pitchFamily="18" charset="0"/>
                <a:ea typeface="Instrument Sans Semi Bold" pitchFamily="34" charset="-122"/>
                <a:cs typeface="Times New Roman" panose="02020603050405020304" pitchFamily="18" charset="0"/>
              </a:rPr>
              <a:t>Структура матрицы</a:t>
            </a:r>
            <a:endParaRPr lang="en-US" sz="2200" dirty="0">
              <a:latin typeface="Times New Roman" panose="02020603050405020304" pitchFamily="18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7599521" y="3669030"/>
            <a:ext cx="6244709" cy="1685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200"/>
              </a:lnSpc>
              <a:buNone/>
            </a:pPr>
            <a:endParaRPr lang="en-US" sz="2000" dirty="0">
              <a:latin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8A11BA1-F63A-8906-8A28-4AB8AB967629}"/>
                  </a:ext>
                </a:extLst>
              </p:cNvPr>
              <p:cNvSpPr txBox="1"/>
              <p:nvPr/>
            </p:nvSpPr>
            <p:spPr>
              <a:xfrm>
                <a:off x="6855440" y="2581368"/>
                <a:ext cx="7315200" cy="169950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20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ru-RU" sz="2200" i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ru-RU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5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sz="22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ru-RU" sz="2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22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ru-RU" sz="2200" i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ru-RU" sz="2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22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ru-RU" sz="2200" i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ru-RU" sz="2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22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ru-RU" sz="2200" i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ru-RU" sz="2200" i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ru-RU" sz="2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22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ru-RU" sz="2200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ru-RU" sz="2200" i="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ru-RU" sz="2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22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ru-RU" sz="2200" i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ru-RU" sz="2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22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ru-RU" sz="2200" i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ru-RU" sz="2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22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ru-RU" sz="2200" i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ru-RU" sz="2200" i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ru-RU" sz="2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22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ru-RU" sz="2200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ru-RU" sz="2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22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ru-RU" sz="2200" i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ru-RU" sz="2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22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ru-RU" sz="2200" i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ru-RU" sz="2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22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ru-RU" sz="2200" i="0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ru-RU" sz="2200" i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ru-RU" sz="2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22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ru-RU" sz="2200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ru-RU" sz="2200" i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ru-RU" sz="2200" i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ru-RU" sz="2200" i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ru-RU" sz="2200" i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ru-RU" sz="2200" i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ru-RU" sz="2200" i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ru-RU" sz="2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22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ru-RU" sz="2200" i="1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  <m:r>
                                      <a:rPr lang="ru-RU" sz="2200" i="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ru-RU" sz="2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22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ru-RU" sz="2200" i="1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ru-RU" sz="2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22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ru-RU" sz="2200" i="1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  <m:r>
                                      <a:rPr lang="ru-RU" sz="2200" i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ru-RU" sz="2200" i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ru-RU" sz="2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22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ru-RU" sz="2200" i="1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  <m:r>
                                      <a:rPr lang="ru-RU" sz="2200" i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ru-RU" sz="2200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ru-RU" sz="2200" i="0">
                                        <a:latin typeface="Cambria Math" panose="02040503050406030204" pitchFamily="18" charset="0"/>
                                      </a:rPr>
                                      <m:t>−2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ru-RU" sz="2200" dirty="0">
                  <a:latin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8A11BA1-F63A-8906-8A28-4AB8AB9676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5440" y="2581368"/>
                <a:ext cx="7315200" cy="169950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722633"/>
            <a:ext cx="1045595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ru-RU" sz="4450" dirty="0">
                <a:latin typeface="Times New Roman" panose="02020603050405020304" pitchFamily="18" charset="0"/>
                <a:ea typeface="Instrument Sans Semi Bold" pitchFamily="34" charset="-122"/>
                <a:cs typeface="Times New Roman" panose="02020603050405020304" pitchFamily="18" charset="0"/>
              </a:rPr>
              <a:t>Н</a:t>
            </a:r>
            <a:r>
              <a:rPr lang="en-US" sz="4450" dirty="0" err="1">
                <a:latin typeface="Times New Roman" panose="02020603050405020304" pitchFamily="18" charset="0"/>
                <a:ea typeface="Instrument Sans Semi Bold" pitchFamily="34" charset="-122"/>
                <a:cs typeface="Times New Roman" panose="02020603050405020304" pitchFamily="18" charset="0"/>
              </a:rPr>
              <a:t>изкоранговая</a:t>
            </a:r>
            <a:r>
              <a:rPr lang="en-US" sz="4450" dirty="0">
                <a:latin typeface="Times New Roman" panose="02020603050405020304" pitchFamily="18" charset="0"/>
                <a:ea typeface="Instrument Sans Semi Bold" pitchFamily="34" charset="-122"/>
                <a:cs typeface="Times New Roman" panose="02020603050405020304" pitchFamily="18" charset="0"/>
              </a:rPr>
              <a:t> аппроксимация</a:t>
            </a:r>
            <a:endParaRPr lang="en-US" sz="4450" dirty="0">
              <a:latin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793790" y="1905863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latin typeface="Times New Roman" panose="02020603050405020304" pitchFamily="18" charset="0"/>
                <a:ea typeface="Instrument Sans Semi Bold" pitchFamily="34" charset="-122"/>
                <a:cs typeface="Times New Roman" panose="02020603050405020304" pitchFamily="18" charset="0"/>
              </a:rPr>
              <a:t>Разложение</a:t>
            </a:r>
            <a:endParaRPr lang="en-US" sz="2200" dirty="0">
              <a:latin typeface="Times New Roman" panose="02020603050405020304" pitchFamily="18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793790" y="3523298"/>
            <a:ext cx="6244709" cy="926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200"/>
              </a:lnSpc>
              <a:buNone/>
            </a:pPr>
            <a:endParaRPr lang="en-US" sz="2000" dirty="0">
              <a:latin typeface="Times New Roman" panose="02020603050405020304" pitchFamily="18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7599521" y="1905863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latin typeface="Times New Roman" panose="02020603050405020304" pitchFamily="18" charset="0"/>
                <a:ea typeface="Instrument Sans Semi Bold" pitchFamily="34" charset="-122"/>
                <a:cs typeface="Times New Roman" panose="02020603050405020304" pitchFamily="18" charset="0"/>
              </a:rPr>
              <a:t>Аппроксимация</a:t>
            </a:r>
            <a:endParaRPr lang="en-US" sz="2200" dirty="0">
              <a:latin typeface="Times New Roman" panose="02020603050405020304" pitchFamily="18" charset="0"/>
            </a:endParaRPr>
          </a:p>
        </p:txBody>
      </p:sp>
      <p:sp>
        <p:nvSpPr>
          <p:cNvPr id="7" name="Text 4"/>
          <p:cNvSpPr/>
          <p:nvPr/>
        </p:nvSpPr>
        <p:spPr>
          <a:xfrm>
            <a:off x="7599521" y="3523298"/>
            <a:ext cx="6244709" cy="911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200"/>
              </a:lnSpc>
              <a:buNone/>
            </a:pPr>
            <a:endParaRPr lang="en-US" sz="2000" dirty="0">
              <a:latin typeface="Times New Roman" panose="02020603050405020304" pitchFamily="18" charset="0"/>
            </a:endParaRPr>
          </a:p>
        </p:txBody>
      </p:sp>
      <p:sp>
        <p:nvSpPr>
          <p:cNvPr id="9" name="Text 5"/>
          <p:cNvSpPr/>
          <p:nvPr/>
        </p:nvSpPr>
        <p:spPr>
          <a:xfrm>
            <a:off x="793790" y="4100899"/>
            <a:ext cx="7757993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latin typeface="Times New Roman" panose="02020603050405020304" pitchFamily="18" charset="0"/>
                <a:ea typeface="Instrument Sans Semi Bold" pitchFamily="34" charset="-122"/>
                <a:cs typeface="Times New Roman" panose="02020603050405020304" pitchFamily="18" charset="0"/>
              </a:rPr>
              <a:t>Обратное преобразование — диагональное усреднение</a:t>
            </a:r>
            <a:endParaRPr lang="en-US" sz="2200" dirty="0">
              <a:latin typeface="Times New Roman" panose="02020603050405020304" pitchFamily="18" charset="0"/>
            </a:endParaRPr>
          </a:p>
        </p:txBody>
      </p:sp>
      <p:sp>
        <p:nvSpPr>
          <p:cNvPr id="10" name="Text 6"/>
          <p:cNvSpPr/>
          <p:nvPr/>
        </p:nvSpPr>
        <p:spPr>
          <a:xfrm>
            <a:off x="793790" y="5771436"/>
            <a:ext cx="13042821" cy="8520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200"/>
              </a:lnSpc>
              <a:buNone/>
            </a:pPr>
            <a:endParaRPr lang="en-US" sz="2000" dirty="0">
              <a:latin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787D607-F222-2D22-D09F-08E0A25B6A58}"/>
                  </a:ext>
                </a:extLst>
              </p:cNvPr>
              <p:cNvSpPr txBox="1"/>
              <p:nvPr/>
            </p:nvSpPr>
            <p:spPr>
              <a:xfrm>
                <a:off x="-284320" y="2693801"/>
                <a:ext cx="7315200" cy="7575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20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ru-RU" sz="2200" i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ctrlPr>
                            <a:rPr lang="ru-RU" sz="2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ru-RU" sz="22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ru-RU" sz="2200" i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ru-RU" sz="2200" i="1">
                              <a:latin typeface="Cambria Math" panose="02040503050406030204" pitchFamily="18" charset="0"/>
                            </a:rPr>
                            <m:t>𝑞</m:t>
                          </m:r>
                        </m:sup>
                        <m:e>
                          <m:sSub>
                            <m:sSubPr>
                              <m:ctrlPr>
                                <a:rPr lang="ru-RU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ru-RU" sz="2200" i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ru-RU" sz="2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ru-RU" sz="2200" i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ru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22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ru-RU" sz="22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sSubSup>
                        <m:sSubSupPr>
                          <m:ctrlPr>
                            <a:rPr lang="ru-RU" sz="22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ru-RU" sz="22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ru-RU" sz="22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r>
                            <a:rPr lang="ru-RU" sz="2200" i="0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bSup>
                      <m:r>
                        <a:rPr lang="ru-RU" sz="2200" i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ru-RU" sz="2200" dirty="0">
                  <a:latin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787D607-F222-2D22-D09F-08E0A25B6A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84320" y="2693801"/>
                <a:ext cx="7315200" cy="75751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000ED94-8F19-A595-272D-A7D758F863EA}"/>
                  </a:ext>
                </a:extLst>
              </p:cNvPr>
              <p:cNvSpPr txBox="1"/>
              <p:nvPr/>
            </p:nvSpPr>
            <p:spPr>
              <a:xfrm>
                <a:off x="6565187" y="2716420"/>
                <a:ext cx="7459038" cy="7575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ru-RU" sz="22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ru-RU" sz="2200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a:rPr lang="ru-RU" sz="2200" i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ctrlPr>
                            <a:rPr lang="ru-RU" sz="2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ru-RU" sz="22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ru-RU" sz="2200" i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ru-RU" sz="2200" i="1">
                              <a:latin typeface="Cambria Math" panose="02040503050406030204" pitchFamily="18" charset="0"/>
                            </a:rPr>
                            <m:t>𝑟</m:t>
                          </m:r>
                        </m:sup>
                        <m:e>
                          <m:sSub>
                            <m:sSubPr>
                              <m:ctrlPr>
                                <a:rPr lang="ru-RU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ru-RU" sz="2200" i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ru-RU" sz="2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ru-RU" sz="2200" i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ru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22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ru-RU" sz="22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sSubSup>
                        <m:sSubSupPr>
                          <m:ctrlPr>
                            <a:rPr lang="ru-RU" sz="22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ru-RU" sz="22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ru-RU" sz="22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r>
                            <a:rPr lang="ru-RU" sz="2200" i="0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bSup>
                      <m:r>
                        <a:rPr lang="ru-RU" sz="2200" i="0">
                          <a:latin typeface="Cambria Math" panose="02040503050406030204" pitchFamily="18" charset="0"/>
                        </a:rPr>
                        <m:t>,  </m:t>
                      </m:r>
                      <m:r>
                        <a:rPr lang="ru-RU" sz="2200" i="1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ru-RU" sz="2200" i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ru-RU" sz="2200" i="1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ru-RU" sz="2200" i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ru-RU" sz="2200" dirty="0">
                  <a:latin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000ED94-8F19-A595-272D-A7D758F863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5187" y="2716420"/>
                <a:ext cx="7459038" cy="75751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FF90EBC-EA1E-525C-6F1A-C41F013CF983}"/>
                  </a:ext>
                </a:extLst>
              </p:cNvPr>
              <p:cNvSpPr txBox="1"/>
              <p:nvPr/>
            </p:nvSpPr>
            <p:spPr>
              <a:xfrm>
                <a:off x="3790702" y="5082193"/>
                <a:ext cx="7459038" cy="109433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ru-RU" sz="22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ru-RU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2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200" b="0" i="0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</m:e>
                      </m:acc>
                      <m:r>
                        <a:rPr lang="ru-RU" sz="220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ru-RU" sz="2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sz="2200" i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ru-RU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2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200" b="0" i="0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a:rPr lang="en-US" sz="2200" b="0" i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limLoc m:val="undOvr"/>
                          <m:ctrlPr>
                            <a:rPr lang="ru-RU" sz="2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ru-RU" sz="22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ru-RU" sz="2200" i="0">
                              <a:latin typeface="Cambria Math" panose="02040503050406030204" pitchFamily="18" charset="0"/>
                            </a:rPr>
                            <m:t>=0 </m:t>
                          </m:r>
                          <m:r>
                            <a:rPr lang="ru-RU" sz="22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ru-RU" sz="2200" i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ru-RU" sz="22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ru-RU" sz="2200" i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ru-RU" sz="22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ru-RU" sz="2200" i="0">
                              <a:latin typeface="Cambria Math" panose="02040503050406030204" pitchFamily="18" charset="0"/>
                            </a:rPr>
                            <m:t>−1 </m:t>
                          </m:r>
                          <m:r>
                            <a:rPr lang="ru-RU" sz="22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ru-RU" sz="2200" i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ru-RU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ru-RU" sz="2200" i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acc>
                            <m:accPr>
                              <m:chr m:val="̃"/>
                              <m:ctrlPr>
                                <a:rPr lang="ru-RU" sz="2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ru-RU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2200" i="1">
                                      <a:latin typeface="Cambria Math" panose="02040503050406030204" pitchFamily="18" charset="0"/>
                                    </a:rPr>
                                    <m:t>𝐻</m:t>
                                  </m:r>
                                </m:e>
                                <m:sub>
                                  <m:r>
                                    <a:rPr lang="ru-RU" sz="2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ru-RU" sz="2200" i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ru-RU" sz="22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acc>
                        </m:e>
                      </m:nary>
                    </m:oMath>
                  </m:oMathPara>
                </a14:m>
                <a:endParaRPr lang="ru-RU" sz="22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FF90EBC-EA1E-525C-6F1A-C41F013CF9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0702" y="5082193"/>
                <a:ext cx="7459038" cy="109433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89503" y="730012"/>
            <a:ext cx="6525697" cy="4748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700"/>
              </a:lnSpc>
              <a:buNone/>
            </a:pPr>
            <a:r>
              <a:rPr lang="en-US" sz="4500" dirty="0">
                <a:latin typeface="Times New Roman" panose="02020603050405020304" pitchFamily="18" charset="0"/>
                <a:ea typeface="Instrument Sans Semi Bold" pitchFamily="34" charset="-122"/>
                <a:cs typeface="Times New Roman" panose="02020603050405020304" pitchFamily="18" charset="0"/>
              </a:rPr>
              <a:t>Визуализация фильтрации сигнала</a:t>
            </a:r>
            <a:endParaRPr lang="en-US" sz="4500" dirty="0">
              <a:latin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789503" y="1416367"/>
            <a:ext cx="13297856" cy="4057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2200" dirty="0">
                <a:latin typeface="Times New Roman" panose="02020603050405020304" pitchFamily="18" charset="0"/>
                <a:ea typeface="Instrument Sans Medium" pitchFamily="34" charset="-122"/>
                <a:cs typeface="Times New Roman" panose="02020603050405020304" pitchFamily="18" charset="0"/>
              </a:rPr>
              <a:t>Эффективность метода SVD для фильтрации сигнала наглядно демонстрируется сравнением исходного, зашумлённого и восстановленного сигналов.</a:t>
            </a:r>
            <a:endParaRPr lang="en-US" sz="2200" dirty="0">
              <a:latin typeface="Times New Roman" panose="02020603050405020304" pitchFamily="18" charset="0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50775F34-D26C-8B5C-3B0C-19501EAE1C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6663" y="1961299"/>
            <a:ext cx="7872025" cy="1838629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61970F9-74A7-9BCC-C516-34B839BFD3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8582" y="3799928"/>
            <a:ext cx="7872025" cy="1845361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D9E2DC31-C9FB-AC40-A72E-4305964CCF6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82622" y="5645289"/>
            <a:ext cx="7943944" cy="1882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6442623-314F-772A-ACFE-C1C534F19D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4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Вывод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15F115D-9A20-A075-5EF1-952F1024E2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Несмотря на большое количество вычислений, фильтрация сигналов сингулярным разложением является эффективным и универсальным методом подавления шума.</a:t>
            </a:r>
          </a:p>
        </p:txBody>
      </p:sp>
    </p:spTree>
    <p:extLst>
      <p:ext uri="{BB962C8B-B14F-4D97-AF65-F5344CB8AC3E}">
        <p14:creationId xmlns:p14="http://schemas.microsoft.com/office/powerpoint/2010/main" val="1713433438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169</TotalTime>
  <Words>569</Words>
  <Application>Microsoft Office PowerPoint</Application>
  <PresentationFormat>Произвольный</PresentationFormat>
  <Paragraphs>107</Paragraphs>
  <Slides>11</Slides>
  <Notes>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7" baseType="lpstr">
      <vt:lpstr>Times New Roman</vt:lpstr>
      <vt:lpstr>Arial</vt:lpstr>
      <vt:lpstr>Cambria Math</vt:lpstr>
      <vt:lpstr>Aptos Display</vt:lpstr>
      <vt:lpstr>Aptos</vt:lpstr>
      <vt:lpstr>Тема Office</vt:lpstr>
      <vt:lpstr>Фильтрация сигналов сингулярным разделением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Вывод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Артём</dc:creator>
  <cp:lastModifiedBy>Lol Lol</cp:lastModifiedBy>
  <cp:revision>15</cp:revision>
  <dcterms:created xsi:type="dcterms:W3CDTF">2026-04-07T14:18:59Z</dcterms:created>
  <dcterms:modified xsi:type="dcterms:W3CDTF">2026-04-08T09:59:12Z</dcterms:modified>
</cp:coreProperties>
</file>